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49" r:id="rId3"/>
    <p:sldId id="313" r:id="rId4"/>
    <p:sldId id="314" r:id="rId5"/>
    <p:sldId id="348" r:id="rId6"/>
    <p:sldId id="315" r:id="rId7"/>
    <p:sldId id="316" r:id="rId8"/>
    <p:sldId id="317" r:id="rId9"/>
    <p:sldId id="318" r:id="rId10"/>
    <p:sldId id="346" r:id="rId11"/>
    <p:sldId id="320" r:id="rId12"/>
    <p:sldId id="321" r:id="rId13"/>
    <p:sldId id="322" r:id="rId14"/>
    <p:sldId id="347" r:id="rId15"/>
    <p:sldId id="324" r:id="rId16"/>
    <p:sldId id="325" r:id="rId17"/>
    <p:sldId id="326" r:id="rId18"/>
    <p:sldId id="327" r:id="rId19"/>
    <p:sldId id="329" r:id="rId20"/>
    <p:sldId id="332" r:id="rId21"/>
    <p:sldId id="330" r:id="rId22"/>
    <p:sldId id="331" r:id="rId23"/>
    <p:sldId id="333" r:id="rId24"/>
    <p:sldId id="334" r:id="rId25"/>
    <p:sldId id="335" r:id="rId26"/>
    <p:sldId id="336" r:id="rId27"/>
    <p:sldId id="337" r:id="rId28"/>
    <p:sldId id="338" r:id="rId29"/>
    <p:sldId id="339" r:id="rId30"/>
    <p:sldId id="340" r:id="rId31"/>
    <p:sldId id="341" r:id="rId32"/>
    <p:sldId id="342" r:id="rId33"/>
    <p:sldId id="343" r:id="rId34"/>
    <p:sldId id="344" r:id="rId35"/>
    <p:sldId id="345" r:id="rId36"/>
    <p:sldId id="312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080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6B96C-0899-437F-AC2A-6EBAD9A625EF}" type="datetimeFigureOut">
              <a:rPr lang="en-ZA" smtClean="0"/>
              <a:t>2021/12/16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7572A-3FCF-4DCF-B69F-C9BF7284F5C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35198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6B96C-0899-437F-AC2A-6EBAD9A625EF}" type="datetimeFigureOut">
              <a:rPr lang="en-ZA" smtClean="0"/>
              <a:t>2021/12/16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7572A-3FCF-4DCF-B69F-C9BF7284F5C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15785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6B96C-0899-437F-AC2A-6EBAD9A625EF}" type="datetimeFigureOut">
              <a:rPr lang="en-ZA" smtClean="0"/>
              <a:t>2021/12/16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7572A-3FCF-4DCF-B69F-C9BF7284F5C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27485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6B96C-0899-437F-AC2A-6EBAD9A625EF}" type="datetimeFigureOut">
              <a:rPr lang="en-ZA" smtClean="0"/>
              <a:t>2021/12/16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7572A-3FCF-4DCF-B69F-C9BF7284F5C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83848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6B96C-0899-437F-AC2A-6EBAD9A625EF}" type="datetimeFigureOut">
              <a:rPr lang="en-ZA" smtClean="0"/>
              <a:t>2021/12/16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7572A-3FCF-4DCF-B69F-C9BF7284F5C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3977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6B96C-0899-437F-AC2A-6EBAD9A625EF}" type="datetimeFigureOut">
              <a:rPr lang="en-ZA" smtClean="0"/>
              <a:t>2021/12/16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7572A-3FCF-4DCF-B69F-C9BF7284F5C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95075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6B96C-0899-437F-AC2A-6EBAD9A625EF}" type="datetimeFigureOut">
              <a:rPr lang="en-ZA" smtClean="0"/>
              <a:t>2021/12/16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7572A-3FCF-4DCF-B69F-C9BF7284F5C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60354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6B96C-0899-437F-AC2A-6EBAD9A625EF}" type="datetimeFigureOut">
              <a:rPr lang="en-ZA" smtClean="0"/>
              <a:t>2021/12/16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7572A-3FCF-4DCF-B69F-C9BF7284F5C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31736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6B96C-0899-437F-AC2A-6EBAD9A625EF}" type="datetimeFigureOut">
              <a:rPr lang="en-ZA" smtClean="0"/>
              <a:t>2021/12/16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7572A-3FCF-4DCF-B69F-C9BF7284F5C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81013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6B96C-0899-437F-AC2A-6EBAD9A625EF}" type="datetimeFigureOut">
              <a:rPr lang="en-ZA" smtClean="0"/>
              <a:t>2021/12/16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7572A-3FCF-4DCF-B69F-C9BF7284F5C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35379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6B96C-0899-437F-AC2A-6EBAD9A625EF}" type="datetimeFigureOut">
              <a:rPr lang="en-ZA" smtClean="0"/>
              <a:t>2021/12/16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7572A-3FCF-4DCF-B69F-C9BF7284F5C9}" type="slidenum">
              <a:rPr lang="en-ZA" smtClean="0"/>
              <a:t>‹#›</a:t>
            </a:fld>
            <a:endParaRPr lang="en-ZA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7896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6B96C-0899-437F-AC2A-6EBAD9A625EF}" type="datetimeFigureOut">
              <a:rPr lang="en-ZA" smtClean="0"/>
              <a:t>2021/12/16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7572A-3FCF-4DCF-B69F-C9BF7284F5C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93241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6B96C-0899-437F-AC2A-6EBAD9A625EF}" type="datetimeFigureOut">
              <a:rPr lang="en-ZA" smtClean="0"/>
              <a:t>2021/12/16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7572A-3FCF-4DCF-B69F-C9BF7284F5C9}" type="slidenum">
              <a:rPr lang="en-ZA" smtClean="0"/>
              <a:t>‹#›</a:t>
            </a:fld>
            <a:endParaRPr lang="en-ZA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975100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6B96C-0899-437F-AC2A-6EBAD9A625EF}" type="datetimeFigureOut">
              <a:rPr lang="en-ZA" smtClean="0"/>
              <a:t>2021/12/16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7572A-3FCF-4DCF-B69F-C9BF7284F5C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672421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6B96C-0899-437F-AC2A-6EBAD9A625EF}" type="datetimeFigureOut">
              <a:rPr lang="en-ZA" smtClean="0"/>
              <a:t>2021/12/16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7572A-3FCF-4DCF-B69F-C9BF7284F5C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145718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6B96C-0899-437F-AC2A-6EBAD9A625EF}" type="datetimeFigureOut">
              <a:rPr lang="en-ZA" smtClean="0"/>
              <a:t>2021/12/16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7572A-3FCF-4DCF-B69F-C9BF7284F5C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37303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36B96C-0899-437F-AC2A-6EBAD9A625EF}" type="datetimeFigureOut">
              <a:rPr lang="en-ZA" smtClean="0"/>
              <a:t>2021/12/16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5B7572A-3FCF-4DCF-B69F-C9BF7284F5C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68876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/>
              <a:t>CS 4421 </a:t>
            </a:r>
            <a:br>
              <a:rPr lang="en-ZA" dirty="0"/>
            </a:br>
            <a:r>
              <a:rPr lang="en-ZA" dirty="0"/>
              <a:t>Operating Systems II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ZA" dirty="0"/>
              <a:t>Chapter 6: Process Synchronization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844350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Overview of today’s lecture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ZA" b="1" dirty="0">
                <a:solidFill>
                  <a:srgbClr val="FF0000"/>
                </a:solidFill>
              </a:rPr>
              <a:t>Introduction </a:t>
            </a:r>
          </a:p>
          <a:p>
            <a:r>
              <a:rPr lang="en-ZA" dirty="0"/>
              <a:t>Process Synchronization Problem</a:t>
            </a:r>
          </a:p>
          <a:p>
            <a:r>
              <a:rPr lang="en-ZA" dirty="0"/>
              <a:t>Critical Region and Implementation</a:t>
            </a:r>
          </a:p>
          <a:p>
            <a:r>
              <a:rPr lang="en-ZA" dirty="0"/>
              <a:t>Process Synchronization Mechanisms</a:t>
            </a:r>
          </a:p>
          <a:p>
            <a:r>
              <a:rPr lang="en-ZA" dirty="0"/>
              <a:t>Pipes and Implementation</a:t>
            </a:r>
          </a:p>
          <a:p>
            <a:r>
              <a:rPr lang="en-ZA" dirty="0"/>
              <a:t>Message Passing</a:t>
            </a:r>
          </a:p>
        </p:txBody>
      </p:sp>
    </p:spTree>
    <p:extLst>
      <p:ext uri="{BB962C8B-B14F-4D97-AF65-F5344CB8AC3E}">
        <p14:creationId xmlns:p14="http://schemas.microsoft.com/office/powerpoint/2010/main" val="339160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CB9D7-A282-4B78-A4C0-CA09BB374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 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02D96-481E-4EF9-9B51-11648772A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ZA" dirty="0"/>
              <a:t>OS consists of many concurrent processes and threads</a:t>
            </a:r>
          </a:p>
          <a:p>
            <a:r>
              <a:rPr lang="en-ZA" dirty="0"/>
              <a:t>Each process or thread may execute in two different modes:</a:t>
            </a:r>
          </a:p>
          <a:p>
            <a:pPr lvl="1"/>
            <a:r>
              <a:rPr lang="en-ZA" dirty="0"/>
              <a:t>kernel mode, </a:t>
            </a:r>
          </a:p>
          <a:p>
            <a:pPr lvl="2"/>
            <a:r>
              <a:rPr lang="en-ZA" dirty="0"/>
              <a:t>all processes and threads share the same address space of the OS kernel</a:t>
            </a:r>
          </a:p>
          <a:p>
            <a:pPr lvl="1"/>
            <a:r>
              <a:rPr lang="en-ZA" dirty="0"/>
              <a:t>user mode, </a:t>
            </a:r>
          </a:p>
          <a:p>
            <a:pPr lvl="2"/>
            <a:r>
              <a:rPr lang="en-ZA" dirty="0"/>
              <a:t>each process executes in a unique address space but threads in a process share the same address space of the process</a:t>
            </a:r>
            <a:endParaRPr lang="en-GB" dirty="0"/>
          </a:p>
          <a:p>
            <a:r>
              <a:rPr lang="en-ZA" dirty="0"/>
              <a:t>When concurrent processes or threads execute in the same address space, they may access and modify common data objects in the shared address space</a:t>
            </a:r>
          </a:p>
          <a:p>
            <a:r>
              <a:rPr lang="en-ZA" b="1" dirty="0"/>
              <a:t>Process synchronization </a:t>
            </a:r>
          </a:p>
          <a:p>
            <a:pPr lvl="1"/>
            <a:r>
              <a:rPr lang="en-ZA" dirty="0"/>
              <a:t>refers to the mechanisms and rules used to ensure the integrity of shared data objects in a concurrent execution environment</a:t>
            </a: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410276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B45EB-D38B-441E-A2D4-A1EEEA2DF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 </a:t>
            </a:r>
            <a:endParaRPr lang="en-L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CF4EC-F537-4C51-91E1-8A452162EE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4128248"/>
            <a:ext cx="8596668" cy="2554939"/>
          </a:xfrm>
        </p:spPr>
        <p:txBody>
          <a:bodyPr>
            <a:normAutofit fontScale="92500" lnSpcReduction="10000"/>
          </a:bodyPr>
          <a:lstStyle/>
          <a:p>
            <a:r>
              <a:rPr lang="en-ZA" dirty="0"/>
              <a:t>Figure above shows a system of concurrent processes</a:t>
            </a:r>
          </a:p>
          <a:p>
            <a:pPr lvl="1"/>
            <a:r>
              <a:rPr lang="en-ZA" dirty="0"/>
              <a:t>n processes: P1 to </a:t>
            </a:r>
            <a:r>
              <a:rPr lang="en-ZA" dirty="0" err="1"/>
              <a:t>Pn</a:t>
            </a:r>
            <a:r>
              <a:rPr lang="en-ZA" dirty="0"/>
              <a:t> share some data objects in their address space</a:t>
            </a:r>
          </a:p>
          <a:p>
            <a:pPr lvl="1"/>
            <a:r>
              <a:rPr lang="en-ZA" dirty="0"/>
              <a:t>Each process runs on a virtual processor, VP1 to </a:t>
            </a:r>
            <a:r>
              <a:rPr lang="en-ZA" dirty="0" err="1"/>
              <a:t>VPn</a:t>
            </a:r>
            <a:endParaRPr lang="en-ZA" dirty="0"/>
          </a:p>
          <a:p>
            <a:pPr lvl="1"/>
            <a:r>
              <a:rPr lang="en-ZA" dirty="0"/>
              <a:t>VPs may be mapped to a real CPU, CPU1 to </a:t>
            </a:r>
            <a:r>
              <a:rPr lang="en-ZA" dirty="0" err="1"/>
              <a:t>CPUm</a:t>
            </a:r>
            <a:r>
              <a:rPr lang="en-ZA" dirty="0"/>
              <a:t>, by multitasking on the CPUs</a:t>
            </a:r>
          </a:p>
          <a:p>
            <a:pPr lvl="1"/>
            <a:r>
              <a:rPr lang="en-ZA" dirty="0"/>
              <a:t>The CPUs access data objects in physical memory, denoted by x and Y = (y, … ,z), which are in the shared address space of the processes</a:t>
            </a:r>
          </a:p>
          <a:p>
            <a:r>
              <a:rPr lang="en-ZA" dirty="0"/>
              <a:t>When accessing shared data objects processes must be synchronized to ensure the integrity of the shared data objects</a:t>
            </a:r>
            <a:endParaRPr lang="en-L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281FAA-F892-4763-A3DE-7182AC231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968" y="1288228"/>
            <a:ext cx="6964471" cy="2665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515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Overview of today’s lecture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ZA" dirty="0"/>
              <a:t>Introduction</a:t>
            </a:r>
            <a:r>
              <a:rPr lang="en-ZA" b="1" dirty="0">
                <a:solidFill>
                  <a:srgbClr val="FF0000"/>
                </a:solidFill>
              </a:rPr>
              <a:t> </a:t>
            </a:r>
          </a:p>
          <a:p>
            <a:r>
              <a:rPr lang="en-ZA" b="1" dirty="0">
                <a:solidFill>
                  <a:srgbClr val="FF0000"/>
                </a:solidFill>
              </a:rPr>
              <a:t>Process Synchronization Problem</a:t>
            </a:r>
          </a:p>
          <a:p>
            <a:r>
              <a:rPr lang="en-ZA" dirty="0"/>
              <a:t>Critical Region and Implementation</a:t>
            </a:r>
          </a:p>
          <a:p>
            <a:r>
              <a:rPr lang="en-ZA" dirty="0"/>
              <a:t>Process Synchronization Mechanisms</a:t>
            </a:r>
          </a:p>
          <a:p>
            <a:r>
              <a:rPr lang="en-ZA" dirty="0"/>
              <a:t>Pipes and Implementation</a:t>
            </a:r>
          </a:p>
          <a:p>
            <a:r>
              <a:rPr lang="en-ZA" dirty="0"/>
              <a:t>Message Passing</a:t>
            </a:r>
          </a:p>
        </p:txBody>
      </p:sp>
    </p:spTree>
    <p:extLst>
      <p:ext uri="{BB962C8B-B14F-4D97-AF65-F5344CB8AC3E}">
        <p14:creationId xmlns:p14="http://schemas.microsoft.com/office/powerpoint/2010/main" val="4140218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7866C-A319-4CDC-9494-7F2400E81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Process Synchronization Problem</a:t>
            </a:r>
            <a:endParaRPr lang="en-L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C538F-A066-4E7D-A9E7-F43E60FD0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38835"/>
            <a:ext cx="8596668" cy="5190565"/>
          </a:xfrm>
        </p:spPr>
        <p:txBody>
          <a:bodyPr>
            <a:normAutofit fontScale="92500" lnSpcReduction="20000"/>
          </a:bodyPr>
          <a:lstStyle/>
          <a:p>
            <a:r>
              <a:rPr lang="en-ZA" dirty="0"/>
              <a:t>Assume that </a:t>
            </a:r>
            <a:r>
              <a:rPr lang="en-ZA" dirty="0">
                <a:latin typeface="Courier New" panose="02070309020205020404" pitchFamily="49" charset="0"/>
                <a:cs typeface="Courier New" panose="02070309020205020404" pitchFamily="49" charset="0"/>
              </a:rPr>
              <a:t>int x = 0</a:t>
            </a:r>
            <a:r>
              <a:rPr lang="en-ZA" dirty="0"/>
              <a:t> is in the address space of many processes </a:t>
            </a:r>
          </a:p>
          <a:p>
            <a:pPr lvl="1"/>
            <a:r>
              <a:rPr lang="en-ZA" dirty="0"/>
              <a:t>all try to update </a:t>
            </a:r>
            <a:r>
              <a:rPr lang="en-ZA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ZA" dirty="0"/>
              <a:t> by </a:t>
            </a:r>
            <a:r>
              <a:rPr lang="en-ZA" dirty="0">
                <a:latin typeface="Courier New" panose="02070309020205020404" pitchFamily="49" charset="0"/>
                <a:cs typeface="Courier New" panose="02070309020205020404" pitchFamily="49" charset="0"/>
              </a:rPr>
              <a:t>x = x + 1</a:t>
            </a:r>
          </a:p>
          <a:p>
            <a:r>
              <a:rPr lang="en-ZA" dirty="0"/>
              <a:t>The update operation consists of three steps:</a:t>
            </a:r>
          </a:p>
          <a:p>
            <a:pPr lvl="1"/>
            <a:r>
              <a:rPr lang="en-ZA" dirty="0"/>
              <a:t>Step 1: read x from memory into CPU;</a:t>
            </a:r>
          </a:p>
          <a:p>
            <a:pPr lvl="1"/>
            <a:r>
              <a:rPr lang="en-ZA" dirty="0"/>
              <a:t>Step 2: increment x by 1 inside CPU;</a:t>
            </a:r>
          </a:p>
          <a:p>
            <a:pPr lvl="1"/>
            <a:r>
              <a:rPr lang="en-ZA" dirty="0"/>
              <a:t>Step 3: write x back to memory;</a:t>
            </a:r>
          </a:p>
          <a:p>
            <a:r>
              <a:rPr lang="en-ZA" dirty="0"/>
              <a:t>Assume that a process P1 has executed Step 1 but not yet Step 2 and Step 3</a:t>
            </a:r>
          </a:p>
          <a:p>
            <a:r>
              <a:rPr lang="en-GB" dirty="0"/>
              <a:t>At the same time, assume </a:t>
            </a:r>
            <a:r>
              <a:rPr lang="en-ZA" dirty="0"/>
              <a:t>another process P2 executes Step 1 also</a:t>
            </a:r>
          </a:p>
          <a:p>
            <a:pPr lvl="1"/>
            <a:r>
              <a:rPr lang="en-ZA" dirty="0"/>
              <a:t>P2 would read the old value of x, which is still 0</a:t>
            </a:r>
          </a:p>
          <a:p>
            <a:r>
              <a:rPr lang="en-ZA" dirty="0"/>
              <a:t>Then P1 executes S2 and S3, which change x to 1</a:t>
            </a:r>
          </a:p>
          <a:p>
            <a:r>
              <a:rPr lang="en-ZA" dirty="0"/>
              <a:t>Then P2 executes S2 and S3, which write 1 to x again</a:t>
            </a:r>
          </a:p>
          <a:p>
            <a:pPr lvl="1"/>
            <a:r>
              <a:rPr lang="en-ZA" dirty="0"/>
              <a:t>The value of x is still 1</a:t>
            </a:r>
          </a:p>
          <a:p>
            <a:r>
              <a:rPr lang="en-ZA" dirty="0"/>
              <a:t>Since both P1 and P2 have incremented x by 1, the value of x should be 2, not 1</a:t>
            </a:r>
          </a:p>
          <a:p>
            <a:r>
              <a:rPr lang="en-ZA" dirty="0"/>
              <a:t>If either process completes the sequence of steps 1 to 3 before another process is allowed to do the same, </a:t>
            </a:r>
          </a:p>
          <a:p>
            <a:pPr lvl="1"/>
            <a:r>
              <a:rPr lang="en-ZA" dirty="0"/>
              <a:t>the result will be correct regardless of the execution order of the processes</a:t>
            </a:r>
            <a:endParaRPr lang="en-LS" dirty="0"/>
          </a:p>
        </p:txBody>
      </p:sp>
    </p:spTree>
    <p:extLst>
      <p:ext uri="{BB962C8B-B14F-4D97-AF65-F5344CB8AC3E}">
        <p14:creationId xmlns:p14="http://schemas.microsoft.com/office/powerpoint/2010/main" val="458831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7866C-A319-4CDC-9494-7F2400E81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Process Synchronization Solution</a:t>
            </a:r>
            <a:endParaRPr lang="en-L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C538F-A066-4E7D-A9E7-F43E60FD0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438835"/>
            <a:ext cx="8829737" cy="5419165"/>
          </a:xfrm>
        </p:spPr>
        <p:txBody>
          <a:bodyPr>
            <a:normAutofit fontScale="92500" lnSpcReduction="20000"/>
          </a:bodyPr>
          <a:lstStyle/>
          <a:p>
            <a:r>
              <a:rPr lang="en-ZA" dirty="0"/>
              <a:t>In order to ensure the exclusive use of x, we may try to protect x as follows:</a:t>
            </a:r>
          </a:p>
          <a:p>
            <a:pPr marL="457200" lvl="1" indent="0">
              <a:buNone/>
            </a:pPr>
            <a:r>
              <a:rPr lang="en-ZA" dirty="0">
                <a:latin typeface="Courier New" panose="02070309020205020404" pitchFamily="49" charset="0"/>
                <a:cs typeface="Courier New" panose="02070309020205020404" pitchFamily="49" charset="0"/>
              </a:rPr>
              <a:t>	int s = FREE if x is available, BUSY otherwise;</a:t>
            </a:r>
          </a:p>
          <a:p>
            <a:pPr lvl="1"/>
            <a:r>
              <a:rPr lang="en-ZA" dirty="0"/>
              <a:t>Any process which needs to update x must check the </a:t>
            </a:r>
            <a:r>
              <a:rPr lang="en-ZA" b="1" dirty="0"/>
              <a:t>status variable s</a:t>
            </a:r>
            <a:r>
              <a:rPr lang="en-ZA" dirty="0"/>
              <a:t>, as in</a:t>
            </a:r>
          </a:p>
          <a:p>
            <a:pPr marL="457200" lvl="1" indent="0">
              <a:buNone/>
            </a:pPr>
            <a:r>
              <a:rPr lang="en-ZA" dirty="0">
                <a:latin typeface="Courier New" panose="02070309020205020404" pitchFamily="49" charset="0"/>
                <a:cs typeface="Courier New" panose="02070309020205020404" pitchFamily="49" charset="0"/>
              </a:rPr>
              <a:t>	check: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ZA" dirty="0">
                <a:latin typeface="Courier New" panose="02070309020205020404" pitchFamily="49" charset="0"/>
                <a:cs typeface="Courier New" panose="02070309020205020404" pitchFamily="49" charset="0"/>
              </a:rPr>
              <a:t>	if (s == FREE){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ZA" dirty="0">
                <a:latin typeface="Courier New" panose="02070309020205020404" pitchFamily="49" charset="0"/>
                <a:cs typeface="Courier New" panose="02070309020205020404" pitchFamily="49" charset="0"/>
              </a:rPr>
              <a:t>		s = BUSY; // acquire x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ZA" dirty="0">
                <a:latin typeface="Courier New" panose="02070309020205020404" pitchFamily="49" charset="0"/>
                <a:cs typeface="Courier New" panose="02070309020205020404" pitchFamily="49" charset="0"/>
              </a:rPr>
              <a:t>		x = x + 1;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ZA" dirty="0">
                <a:latin typeface="Courier New" panose="02070309020205020404" pitchFamily="49" charset="0"/>
                <a:cs typeface="Courier New" panose="02070309020205020404" pitchFamily="49" charset="0"/>
              </a:rPr>
              <a:t>		s = FREE; // release x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ZA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ZA" dirty="0">
                <a:latin typeface="Courier New" panose="02070309020205020404" pitchFamily="49" charset="0"/>
                <a:cs typeface="Courier New" panose="02070309020205020404" pitchFamily="49" charset="0"/>
              </a:rPr>
              <a:t>	else{ // x not available, what to do?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ZA" dirty="0">
                <a:latin typeface="Courier New" panose="02070309020205020404" pitchFamily="49" charset="0"/>
                <a:cs typeface="Courier New" panose="02070309020205020404" pitchFamily="49" charset="0"/>
              </a:rPr>
              <a:t>		option 1 : </a:t>
            </a:r>
            <a:r>
              <a:rPr lang="en-ZA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goto</a:t>
            </a:r>
            <a:r>
              <a:rPr lang="en-ZA" dirty="0">
                <a:latin typeface="Courier New" panose="02070309020205020404" pitchFamily="49" charset="0"/>
                <a:cs typeface="Courier New" panose="02070309020205020404" pitchFamily="49" charset="0"/>
              </a:rPr>
              <a:t> check; // keep trying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ZA" dirty="0">
                <a:latin typeface="Courier New" panose="02070309020205020404" pitchFamily="49" charset="0"/>
                <a:cs typeface="Courier New" panose="02070309020205020404" pitchFamily="49" charset="0"/>
              </a:rPr>
              <a:t>		option 2 : sleep(&amp;s); </a:t>
            </a:r>
            <a:r>
              <a:rPr lang="en-ZA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goto</a:t>
            </a:r>
            <a:r>
              <a:rPr lang="en-ZA" dirty="0">
                <a:latin typeface="Courier New" panose="02070309020205020404" pitchFamily="49" charset="0"/>
                <a:cs typeface="Courier New" panose="02070309020205020404" pitchFamily="49" charset="0"/>
              </a:rPr>
              <a:t> check; // workable but must retry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ZA" dirty="0">
                <a:latin typeface="Courier New" panose="02070309020205020404" pitchFamily="49" charset="0"/>
                <a:cs typeface="Courier New" panose="02070309020205020404" pitchFamily="49" charset="0"/>
              </a:rPr>
              <a:t>		option 3 : block the process; when the process runs again,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ZA" dirty="0">
                <a:latin typeface="Courier New" panose="02070309020205020404" pitchFamily="49" charset="0"/>
                <a:cs typeface="Courier New" panose="02070309020205020404" pitchFamily="49" charset="0"/>
              </a:rPr>
              <a:t>					it is guaranteed to have x;</a:t>
            </a:r>
          </a:p>
          <a:p>
            <a:pPr marL="457200" lvl="1" indent="0">
              <a:buNone/>
            </a:pPr>
            <a:r>
              <a:rPr lang="en-ZA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GB" dirty="0"/>
              <a:t>But what if </a:t>
            </a:r>
            <a:r>
              <a:rPr lang="en-ZA" dirty="0"/>
              <a:t>several processes may arrive at the label check at the same time?</a:t>
            </a:r>
          </a:p>
          <a:p>
            <a:pPr lvl="1"/>
            <a:r>
              <a:rPr lang="en-ZA" dirty="0"/>
              <a:t>all such processes would see s as FREE before any of them has changed it to BUSY</a:t>
            </a:r>
          </a:p>
          <a:p>
            <a:r>
              <a:rPr lang="en-GB" dirty="0"/>
              <a:t>It can be seen the </a:t>
            </a:r>
            <a:r>
              <a:rPr lang="en-ZA" dirty="0"/>
              <a:t>status variable itself needs protection also</a:t>
            </a:r>
          </a:p>
          <a:p>
            <a:pPr lvl="1"/>
            <a:r>
              <a:rPr lang="en-ZA" dirty="0"/>
              <a:t>Thus, the mutual exclusion problem is recursive in the sense that the problem repeats itself</a:t>
            </a:r>
          </a:p>
          <a:p>
            <a:pPr lvl="1"/>
            <a:r>
              <a:rPr lang="en-ZA" dirty="0"/>
              <a:t>The recursion must stop somewhere. otherwise the problem would have no solution</a:t>
            </a:r>
            <a:endParaRPr lang="en-LS" dirty="0"/>
          </a:p>
        </p:txBody>
      </p:sp>
    </p:spTree>
    <p:extLst>
      <p:ext uri="{BB962C8B-B14F-4D97-AF65-F5344CB8AC3E}">
        <p14:creationId xmlns:p14="http://schemas.microsoft.com/office/powerpoint/2010/main" val="690597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7866C-A319-4CDC-9494-7F2400E81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Process Synchronization Solution</a:t>
            </a:r>
            <a:endParaRPr lang="en-L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C538F-A066-4E7D-A9E7-F43E60FD0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38835"/>
            <a:ext cx="8596668" cy="5190565"/>
          </a:xfrm>
        </p:spPr>
        <p:txBody>
          <a:bodyPr>
            <a:normAutofit/>
          </a:bodyPr>
          <a:lstStyle/>
          <a:p>
            <a:r>
              <a:rPr lang="en-ZA" dirty="0"/>
              <a:t>Next, assume that we can protect the status variable s to make the above code work</a:t>
            </a:r>
          </a:p>
          <a:p>
            <a:pPr lvl="1"/>
            <a:r>
              <a:rPr lang="en-ZA" dirty="0"/>
              <a:t>What should a process do if it finds s BUSY?</a:t>
            </a:r>
          </a:p>
          <a:p>
            <a:r>
              <a:rPr lang="en-ZA" dirty="0"/>
              <a:t>In option 1, the process repeatedly checks the status variable until it succeeds, this is known as a </a:t>
            </a:r>
            <a:r>
              <a:rPr lang="en-ZA" b="1" dirty="0"/>
              <a:t>spinlock</a:t>
            </a:r>
            <a:r>
              <a:rPr lang="en-ZA" dirty="0"/>
              <a:t> </a:t>
            </a:r>
          </a:p>
          <a:p>
            <a:pPr lvl="1"/>
            <a:r>
              <a:rPr lang="en-ZA" dirty="0"/>
              <a:t>Viable in multiprocessor systems but not a good option in uniprocessor systems</a:t>
            </a:r>
          </a:p>
          <a:p>
            <a:r>
              <a:rPr lang="en-ZA" dirty="0"/>
              <a:t>In option 2, the process goes to sleep to wait for </a:t>
            </a:r>
            <a:r>
              <a:rPr lang="en-ZA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</a:p>
          <a:p>
            <a:pPr lvl="1"/>
            <a:r>
              <a:rPr lang="en-GB" dirty="0"/>
              <a:t>This is inefficient as the process must </a:t>
            </a:r>
            <a:r>
              <a:rPr lang="en-ZA" dirty="0"/>
              <a:t>must execute the </a:t>
            </a:r>
            <a:r>
              <a:rPr lang="en-ZA" dirty="0">
                <a:latin typeface="Courier New" panose="02070309020205020404" pitchFamily="49" charset="0"/>
                <a:cs typeface="Courier New" panose="02070309020205020404" pitchFamily="49" charset="0"/>
              </a:rPr>
              <a:t>check</a:t>
            </a:r>
            <a:r>
              <a:rPr lang="en-ZA" dirty="0"/>
              <a:t> code again </a:t>
            </a:r>
            <a:endParaRPr lang="en-GB" dirty="0"/>
          </a:p>
          <a:p>
            <a:r>
              <a:rPr lang="en-GB" dirty="0"/>
              <a:t>In option 3, </a:t>
            </a:r>
            <a:r>
              <a:rPr lang="en-ZA" dirty="0"/>
              <a:t>the process blocks itself to wait for </a:t>
            </a:r>
            <a:r>
              <a:rPr lang="en-ZA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endParaRPr lang="en-ZA" dirty="0"/>
          </a:p>
          <a:p>
            <a:pPr lvl="1"/>
            <a:r>
              <a:rPr lang="en-ZA" dirty="0"/>
              <a:t>When a blocked process runs again, it is guaranteed to have the resource so that it does not need to retry again</a:t>
            </a:r>
            <a:endParaRPr lang="en-GB" dirty="0"/>
          </a:p>
          <a:p>
            <a:r>
              <a:rPr lang="en-ZA" dirty="0"/>
              <a:t>Under normal conditions, option 3 would be the best</a:t>
            </a:r>
          </a:p>
          <a:p>
            <a:pPr lvl="1"/>
            <a:r>
              <a:rPr lang="en-ZA" dirty="0"/>
              <a:t>This shows that process synchronization can be achieved by using different kinds of tools</a:t>
            </a:r>
          </a:p>
          <a:p>
            <a:endParaRPr lang="en-LS" dirty="0"/>
          </a:p>
        </p:txBody>
      </p:sp>
    </p:spTree>
    <p:extLst>
      <p:ext uri="{BB962C8B-B14F-4D97-AF65-F5344CB8AC3E}">
        <p14:creationId xmlns:p14="http://schemas.microsoft.com/office/powerpoint/2010/main" val="787753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7866C-A319-4CDC-9494-7F2400E81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Process Synchronization Solution</a:t>
            </a:r>
            <a:endParaRPr lang="en-L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C538F-A066-4E7D-A9E7-F43E60FD0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38836"/>
            <a:ext cx="8596668" cy="2160246"/>
          </a:xfrm>
        </p:spPr>
        <p:txBody>
          <a:bodyPr>
            <a:normAutofit fontScale="85000" lnSpcReduction="10000"/>
          </a:bodyPr>
          <a:lstStyle/>
          <a:p>
            <a:r>
              <a:rPr lang="en-ZA" dirty="0"/>
              <a:t>Figure below shows the hierarchy of process synchronization tools</a:t>
            </a:r>
          </a:p>
          <a:p>
            <a:r>
              <a:rPr lang="en-ZA" dirty="0"/>
              <a:t>Each level includes more mechanisms with improved functionality, </a:t>
            </a:r>
          </a:p>
          <a:p>
            <a:pPr lvl="1"/>
            <a:r>
              <a:rPr lang="en-ZA" dirty="0"/>
              <a:t>all of which depend on the mechanisms at lower levels</a:t>
            </a:r>
          </a:p>
          <a:p>
            <a:r>
              <a:rPr lang="en-ZA" dirty="0"/>
              <a:t>At the lowest level, disabling CPU interrupts ensures only one process is running on a CPU</a:t>
            </a:r>
          </a:p>
          <a:p>
            <a:r>
              <a:rPr lang="en-ZA" dirty="0"/>
              <a:t>Machine instructions TS and XCHG are for modifying memory locations as atomic or indivisible operations</a:t>
            </a:r>
          </a:p>
          <a:p>
            <a:r>
              <a:rPr lang="en-ZA" dirty="0"/>
              <a:t>Above the level of atomic instructions are synchronizing tools implemented in software</a:t>
            </a:r>
          </a:p>
          <a:p>
            <a:endParaRPr lang="en-L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F30D9C-5272-469F-BF2E-90E46D841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107" y="3599082"/>
            <a:ext cx="6256469" cy="314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511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Overview of today’s lecture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ZA" dirty="0"/>
              <a:t>Introduction</a:t>
            </a:r>
            <a:r>
              <a:rPr lang="en-ZA" b="1" dirty="0">
                <a:solidFill>
                  <a:srgbClr val="FF0000"/>
                </a:solidFill>
              </a:rPr>
              <a:t> </a:t>
            </a:r>
          </a:p>
          <a:p>
            <a:r>
              <a:rPr lang="en-ZA" dirty="0"/>
              <a:t>Process Synchronization Problem</a:t>
            </a:r>
          </a:p>
          <a:p>
            <a:r>
              <a:rPr lang="en-ZA" b="1" dirty="0">
                <a:solidFill>
                  <a:srgbClr val="FF0000"/>
                </a:solidFill>
              </a:rPr>
              <a:t>Critical Region and Implementation</a:t>
            </a:r>
          </a:p>
          <a:p>
            <a:r>
              <a:rPr lang="en-ZA" dirty="0"/>
              <a:t>Process Synchronization Mechanisms</a:t>
            </a:r>
          </a:p>
          <a:p>
            <a:r>
              <a:rPr lang="en-ZA" dirty="0"/>
              <a:t>Pipes and Implementation</a:t>
            </a:r>
          </a:p>
          <a:p>
            <a:r>
              <a:rPr lang="en-ZA" dirty="0"/>
              <a:t>Message Passing</a:t>
            </a:r>
          </a:p>
        </p:txBody>
      </p:sp>
    </p:spTree>
    <p:extLst>
      <p:ext uri="{BB962C8B-B14F-4D97-AF65-F5344CB8AC3E}">
        <p14:creationId xmlns:p14="http://schemas.microsoft.com/office/powerpoint/2010/main" val="3637901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19788-7FF3-473A-91EB-9F2A1771E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Critical Region</a:t>
            </a:r>
            <a:endParaRPr lang="en-L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378B4-292D-4057-BBB9-5976AB897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44706"/>
            <a:ext cx="8596668" cy="5365375"/>
          </a:xfrm>
        </p:spPr>
        <p:txBody>
          <a:bodyPr>
            <a:normAutofit fontScale="85000" lnSpcReduction="20000"/>
          </a:bodyPr>
          <a:lstStyle/>
          <a:p>
            <a:r>
              <a:rPr lang="en-ZA" dirty="0"/>
              <a:t>A Critical Region (CR) or Critical Section </a:t>
            </a:r>
          </a:p>
          <a:p>
            <a:pPr lvl="1"/>
            <a:r>
              <a:rPr lang="en-ZA" dirty="0"/>
              <a:t>is a sequence of operations on shared data objects by only one process at a time</a:t>
            </a:r>
          </a:p>
          <a:p>
            <a:pPr lvl="1"/>
            <a:r>
              <a:rPr lang="en-ZA" dirty="0"/>
              <a:t>are intended to protect shared data objects, not code</a:t>
            </a:r>
            <a:endParaRPr lang="en-GB" dirty="0"/>
          </a:p>
          <a:p>
            <a:r>
              <a:rPr lang="en-ZA" dirty="0"/>
              <a:t>Consider the following code segment: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latin typeface="CourierNewPSMT"/>
              </a:rPr>
              <a:t>						SHARED int s;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GB" sz="1800" b="0" i="0" u="none" strike="noStrike" baseline="0" dirty="0">
                <a:latin typeface="CourierNewPSMT"/>
              </a:rPr>
              <a:t>			</a:t>
            </a:r>
            <a:r>
              <a:rPr lang="en-LS" sz="1800" b="0" i="0" u="none" strike="noStrike" baseline="0" dirty="0">
                <a:latin typeface="CourierNewPSMT"/>
              </a:rPr>
              <a:t>---------------------------------</a:t>
            </a:r>
            <a:r>
              <a:rPr lang="en-GB" sz="1800" b="0" i="0" u="none" strike="noStrike" baseline="0" dirty="0">
                <a:latin typeface="CourierNewPSMT"/>
              </a:rPr>
              <a:t>--------</a:t>
            </a:r>
            <a:endParaRPr lang="en-LS" sz="1800" b="0" i="0" u="none" strike="noStrike" baseline="0" dirty="0">
              <a:latin typeface="CourierNewPSMT"/>
            </a:endParaRPr>
          </a:p>
          <a:p>
            <a:pPr marL="0" indent="0" algn="l">
              <a:spcBef>
                <a:spcPts val="200"/>
              </a:spcBef>
              <a:buNone/>
            </a:pPr>
            <a:r>
              <a:rPr lang="en-ZA" sz="1800" b="0" i="0" u="none" strike="noStrike" baseline="0" dirty="0">
                <a:latin typeface="CourierNewPSMT"/>
              </a:rPr>
              <a:t>			</a:t>
            </a:r>
            <a:r>
              <a:rPr lang="en-ZA" sz="1800" b="0" i="0" u="none" strike="noStrike" baseline="0" dirty="0" err="1">
                <a:latin typeface="CourierNewPSMT"/>
              </a:rPr>
              <a:t>inc_s</a:t>
            </a:r>
            <a:r>
              <a:rPr lang="en-ZA" sz="1800" b="0" i="0" u="none" strike="noStrike" baseline="0" dirty="0">
                <a:latin typeface="CourierNewPSMT"/>
              </a:rPr>
              <a:t>(int *s)		| 		</a:t>
            </a:r>
            <a:r>
              <a:rPr lang="en-ZA" sz="1800" b="0" i="0" u="none" strike="noStrike" baseline="0" dirty="0" err="1">
                <a:latin typeface="CourierNewPSMT"/>
              </a:rPr>
              <a:t>dec_s</a:t>
            </a:r>
            <a:r>
              <a:rPr lang="en-ZA" sz="1800" b="0" i="0" u="none" strike="noStrike" baseline="0" dirty="0">
                <a:latin typeface="CourierNewPSMT"/>
              </a:rPr>
              <a:t>(int *s)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GB" sz="1800" b="0" i="0" u="none" strike="noStrike" baseline="0" dirty="0">
                <a:latin typeface="CourierNewPSMT"/>
              </a:rPr>
              <a:t>			</a:t>
            </a:r>
            <a:r>
              <a:rPr lang="en-LS" sz="1800" b="0" i="0" u="none" strike="noStrike" baseline="0" dirty="0">
                <a:latin typeface="CourierNewPSMT"/>
              </a:rPr>
              <a:t>{ </a:t>
            </a:r>
            <a:r>
              <a:rPr lang="en-GB" sz="1800" b="0" i="0" u="none" strike="noStrike" baseline="0" dirty="0">
                <a:latin typeface="CourierNewPSMT"/>
              </a:rPr>
              <a:t>					</a:t>
            </a:r>
            <a:r>
              <a:rPr lang="en-LS" sz="1800" b="0" i="0" u="none" strike="noStrike" baseline="0" dirty="0">
                <a:latin typeface="CourierNewPSMT"/>
              </a:rPr>
              <a:t>| </a:t>
            </a:r>
            <a:r>
              <a:rPr lang="en-GB" sz="1800" b="0" i="0" u="none" strike="noStrike" baseline="0" dirty="0">
                <a:latin typeface="CourierNewPSMT"/>
              </a:rPr>
              <a:t>		</a:t>
            </a:r>
            <a:r>
              <a:rPr lang="en-LS" sz="1800" b="0" i="0" u="none" strike="noStrike" baseline="0" dirty="0">
                <a:latin typeface="CourierNewPSMT"/>
              </a:rPr>
              <a:t>{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GB" sz="1800" b="0" i="0" u="none" strike="noStrike" baseline="0" dirty="0">
                <a:latin typeface="CourierNewPSMT"/>
              </a:rPr>
              <a:t>				(*s)++; 		| 			(*s)--;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GB" sz="1800" b="0" i="0" u="none" strike="noStrike" baseline="0" dirty="0">
                <a:latin typeface="CourierNewPSMT"/>
              </a:rPr>
              <a:t>			</a:t>
            </a:r>
            <a:r>
              <a:rPr lang="en-LS" sz="1800" b="0" i="0" u="none" strike="noStrike" baseline="0" dirty="0">
                <a:latin typeface="CourierNewPSMT"/>
              </a:rPr>
              <a:t>} </a:t>
            </a:r>
            <a:r>
              <a:rPr lang="en-GB" sz="1800" b="0" i="0" u="none" strike="noStrike" baseline="0" dirty="0">
                <a:latin typeface="CourierNewPSMT"/>
              </a:rPr>
              <a:t>					</a:t>
            </a:r>
            <a:r>
              <a:rPr lang="en-LS" sz="1800" b="0" i="0" u="none" strike="noStrike" baseline="0" dirty="0">
                <a:latin typeface="CourierNewPSMT"/>
              </a:rPr>
              <a:t>| </a:t>
            </a:r>
            <a:r>
              <a:rPr lang="en-GB" sz="1800" b="0" i="0" u="none" strike="noStrike" baseline="0" dirty="0">
                <a:latin typeface="CourierNewPSMT"/>
              </a:rPr>
              <a:t>		</a:t>
            </a:r>
            <a:r>
              <a:rPr lang="en-LS" sz="1800" b="0" i="0" u="none" strike="noStrike" baseline="0" dirty="0">
                <a:latin typeface="CourierNewPSMT"/>
              </a:rPr>
              <a:t>}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GB" sz="1800" b="0" i="0" u="none" strike="noStrike" baseline="0" dirty="0">
                <a:latin typeface="CourierNewPSMT"/>
              </a:rPr>
              <a:t>			</a:t>
            </a:r>
            <a:r>
              <a:rPr lang="en-LS" sz="1800" b="0" i="0" u="none" strike="noStrike" baseline="0" dirty="0">
                <a:latin typeface="CourierNewPSMT"/>
              </a:rPr>
              <a:t>--------------------------------</a:t>
            </a:r>
            <a:r>
              <a:rPr lang="en-GB" sz="1800" b="0" i="0" u="none" strike="noStrike" baseline="0" dirty="0">
                <a:latin typeface="CourierNewPSMT"/>
              </a:rPr>
              <a:t>---------</a:t>
            </a:r>
            <a:endParaRPr lang="en-LS" sz="1800" b="0" i="0" u="none" strike="noStrike" baseline="0" dirty="0">
              <a:latin typeface="CourierNewPSMT"/>
            </a:endParaRPr>
          </a:p>
          <a:p>
            <a:pPr marL="0" indent="0" algn="l">
              <a:buNone/>
            </a:pPr>
            <a:r>
              <a:rPr lang="pt-BR" sz="1800" b="0" i="0" u="none" strike="noStrike" baseline="0" dirty="0">
                <a:latin typeface="CourierNewPSMT"/>
              </a:rPr>
              <a:t>			</a:t>
            </a:r>
            <a:r>
              <a:rPr lang="pt-BR" sz="1800" b="1" i="0" u="none" strike="noStrike" baseline="0" dirty="0">
                <a:latin typeface="CourierNewPSMT"/>
              </a:rPr>
              <a:t>Processes</a:t>
            </a:r>
            <a:r>
              <a:rPr lang="pt-BR" sz="1800" b="0" i="0" u="none" strike="noStrike" baseline="0" dirty="0">
                <a:latin typeface="CourierNewPSMT"/>
              </a:rPr>
              <a:t>: 	inc_s(&amp;s); 	dec_s(&amp;s);</a:t>
            </a:r>
            <a:endParaRPr lang="en-GB" dirty="0"/>
          </a:p>
          <a:p>
            <a:pPr lvl="1"/>
            <a:r>
              <a:rPr lang="en-ZA" dirty="0"/>
              <a:t>Both </a:t>
            </a:r>
            <a:r>
              <a:rPr lang="en-ZA" sz="1800" dirty="0" err="1">
                <a:latin typeface="CourierNewPSMT"/>
              </a:rPr>
              <a:t>inc_s</a:t>
            </a:r>
            <a:r>
              <a:rPr lang="en-ZA" sz="1800" dirty="0">
                <a:latin typeface="CourierNewPSMT"/>
              </a:rPr>
              <a:t>()</a:t>
            </a:r>
            <a:r>
              <a:rPr lang="en-ZA" dirty="0"/>
              <a:t> and </a:t>
            </a:r>
            <a:r>
              <a:rPr lang="en-ZA" sz="1800" dirty="0" err="1">
                <a:latin typeface="CourierNewPSMT"/>
              </a:rPr>
              <a:t>dec_s</a:t>
            </a:r>
            <a:r>
              <a:rPr lang="en-ZA" sz="1800" dirty="0">
                <a:latin typeface="CourierNewPSMT"/>
              </a:rPr>
              <a:t>()</a:t>
            </a:r>
            <a:r>
              <a:rPr lang="en-ZA" dirty="0"/>
              <a:t> modify the shared variable </a:t>
            </a:r>
            <a:r>
              <a:rPr lang="en-ZA" sz="1800" b="1" dirty="0">
                <a:latin typeface="CourierNewPSMT"/>
              </a:rPr>
              <a:t>s</a:t>
            </a:r>
          </a:p>
          <a:p>
            <a:pPr lvl="1"/>
            <a:r>
              <a:rPr lang="en-ZA" dirty="0"/>
              <a:t>CR here is associated with the shared variable </a:t>
            </a:r>
            <a:r>
              <a:rPr lang="en-ZA" sz="1800" b="1" dirty="0">
                <a:latin typeface="CourierNewPSMT"/>
              </a:rPr>
              <a:t>s</a:t>
            </a:r>
            <a:r>
              <a:rPr lang="en-ZA" dirty="0"/>
              <a:t>, not the individual pieces of code that operate on </a:t>
            </a:r>
            <a:r>
              <a:rPr lang="en-ZA" sz="1600" b="1" dirty="0">
                <a:latin typeface="CourierNewPSMT"/>
              </a:rPr>
              <a:t>s</a:t>
            </a:r>
            <a:endParaRPr lang="en-ZA" b="1" dirty="0"/>
          </a:p>
          <a:p>
            <a:pPr lvl="1"/>
            <a:r>
              <a:rPr lang="en-ZA" dirty="0"/>
              <a:t>If a process is already executing </a:t>
            </a:r>
            <a:r>
              <a:rPr lang="en-ZA" sz="1800" dirty="0" err="1">
                <a:latin typeface="CourierNewPSMT"/>
              </a:rPr>
              <a:t>inc_s</a:t>
            </a:r>
            <a:r>
              <a:rPr lang="en-ZA" sz="1800" dirty="0">
                <a:latin typeface="CourierNewPSMT"/>
              </a:rPr>
              <a:t>()</a:t>
            </a:r>
            <a:r>
              <a:rPr lang="en-ZA" dirty="0"/>
              <a:t>, </a:t>
            </a:r>
          </a:p>
          <a:p>
            <a:pPr lvl="2"/>
            <a:r>
              <a:rPr lang="en-ZA" dirty="0"/>
              <a:t>no other process should be allowed to execute </a:t>
            </a:r>
            <a:r>
              <a:rPr lang="en-ZA" dirty="0" err="1">
                <a:latin typeface="CourierNewPSMT"/>
              </a:rPr>
              <a:t>inc_s</a:t>
            </a:r>
            <a:r>
              <a:rPr lang="en-ZA" dirty="0">
                <a:latin typeface="CourierNewPSMT"/>
              </a:rPr>
              <a:t>()</a:t>
            </a:r>
            <a:r>
              <a:rPr lang="en-ZA" dirty="0"/>
              <a:t>, </a:t>
            </a:r>
            <a:r>
              <a:rPr lang="en-ZA" dirty="0" err="1">
                <a:latin typeface="CourierNewPSMT"/>
              </a:rPr>
              <a:t>dec_s</a:t>
            </a:r>
            <a:r>
              <a:rPr lang="en-ZA" dirty="0">
                <a:latin typeface="CourierNewPSMT"/>
              </a:rPr>
              <a:t>()</a:t>
            </a:r>
            <a:r>
              <a:rPr lang="en-ZA" dirty="0"/>
              <a:t> or any other code that operate on </a:t>
            </a:r>
            <a:r>
              <a:rPr lang="en-ZA" b="1" dirty="0">
                <a:latin typeface="CourierNewPSMT"/>
              </a:rPr>
              <a:t>s</a:t>
            </a:r>
            <a:r>
              <a:rPr lang="en-ZA" dirty="0"/>
              <a:t> at the same time</a:t>
            </a:r>
          </a:p>
          <a:p>
            <a:r>
              <a:rPr lang="en-ZA" dirty="0"/>
              <a:t>Critical regions realize the principle of process mutual exclusion, which is the basis of process synchronization</a:t>
            </a:r>
            <a:endParaRPr lang="en-LS" dirty="0"/>
          </a:p>
        </p:txBody>
      </p:sp>
    </p:spTree>
    <p:extLst>
      <p:ext uri="{BB962C8B-B14F-4D97-AF65-F5344CB8AC3E}">
        <p14:creationId xmlns:p14="http://schemas.microsoft.com/office/powerpoint/2010/main" val="17630295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19788-7FF3-473A-91EB-9F2A1771E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Implementation of Critical Region</a:t>
            </a:r>
            <a:endParaRPr lang="en-L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378B4-292D-4057-BBB9-5976AB897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44706"/>
            <a:ext cx="8596668" cy="5365375"/>
          </a:xfrm>
        </p:spPr>
        <p:txBody>
          <a:bodyPr>
            <a:normAutofit/>
          </a:bodyPr>
          <a:lstStyle/>
          <a:p>
            <a:r>
              <a:rPr lang="en-ZA" dirty="0"/>
              <a:t>Assume that </a:t>
            </a:r>
            <a:r>
              <a:rPr lang="en-ZA" b="1" dirty="0">
                <a:latin typeface="CourierNewPSMT"/>
              </a:rPr>
              <a:t>x</a:t>
            </a:r>
            <a:r>
              <a:rPr lang="en-ZA" dirty="0"/>
              <a:t> is an addressable memory location and only one CPU can access x at a time</a:t>
            </a:r>
          </a:p>
          <a:p>
            <a:pPr lvl="1"/>
            <a:r>
              <a:rPr lang="en-ZA" dirty="0"/>
              <a:t>thus </a:t>
            </a:r>
            <a:r>
              <a:rPr lang="en-ZA" dirty="0">
                <a:latin typeface="CourierNewPSMT"/>
              </a:rPr>
              <a:t>read(x)</a:t>
            </a:r>
            <a:r>
              <a:rPr lang="en-ZA" dirty="0"/>
              <a:t> and </a:t>
            </a:r>
            <a:r>
              <a:rPr lang="en-ZA" dirty="0">
                <a:latin typeface="CourierNewPSMT"/>
              </a:rPr>
              <a:t>write(x)</a:t>
            </a:r>
            <a:r>
              <a:rPr lang="en-ZA" dirty="0"/>
              <a:t> are atomic operations</a:t>
            </a:r>
          </a:p>
          <a:p>
            <a:pPr lvl="1"/>
            <a:r>
              <a:rPr lang="en-ZA" dirty="0"/>
              <a:t>however, the individual atomicity of read and write does not guarantee that </a:t>
            </a:r>
            <a:r>
              <a:rPr lang="en-ZA" b="1" dirty="0">
                <a:latin typeface="CourierNewPSMT"/>
              </a:rPr>
              <a:t>x</a:t>
            </a:r>
            <a:r>
              <a:rPr lang="en-ZA" dirty="0"/>
              <a:t> can be updated correctly</a:t>
            </a:r>
          </a:p>
          <a:p>
            <a:pPr lvl="2"/>
            <a:r>
              <a:rPr lang="en-ZA" dirty="0"/>
              <a:t>This is because updating x requires </a:t>
            </a:r>
            <a:r>
              <a:rPr lang="en-ZA" dirty="0">
                <a:latin typeface="CourierNewPSMT"/>
              </a:rPr>
              <a:t>read(x)</a:t>
            </a:r>
            <a:r>
              <a:rPr lang="en-ZA" dirty="0"/>
              <a:t> and then </a:t>
            </a:r>
            <a:r>
              <a:rPr lang="en-ZA" dirty="0">
                <a:latin typeface="CourierNewPSMT"/>
              </a:rPr>
              <a:t>write(x)</a:t>
            </a:r>
            <a:r>
              <a:rPr lang="en-ZA" dirty="0"/>
              <a:t> in two steps</a:t>
            </a:r>
          </a:p>
          <a:p>
            <a:pPr lvl="3"/>
            <a:r>
              <a:rPr lang="en-ZA" dirty="0"/>
              <a:t>Between the two steps other CPUs may cut in</a:t>
            </a:r>
            <a:endParaRPr lang="en-GB" dirty="0"/>
          </a:p>
          <a:p>
            <a:pPr lvl="1"/>
            <a:r>
              <a:rPr lang="en-ZA" dirty="0"/>
              <a:t>To remedy this, CPUs designed for multiprocessing usually support a Test-and-Set (TS) or equivalent instruction</a:t>
            </a:r>
          </a:p>
          <a:p>
            <a:pPr marL="914400" lvl="2" indent="0">
              <a:buNone/>
            </a:pPr>
            <a:r>
              <a:rPr lang="en-ZA" dirty="0"/>
              <a:t>	</a:t>
            </a:r>
            <a:r>
              <a:rPr lang="en-ZA" dirty="0">
                <a:latin typeface="CourierNewPSMT"/>
              </a:rPr>
              <a:t>TS(x) = {read x from memory; test x for 0 or 1; write 1 to x}</a:t>
            </a:r>
          </a:p>
          <a:p>
            <a:pPr lvl="2"/>
            <a:r>
              <a:rPr lang="en-ZA" dirty="0"/>
              <a:t>No matter how many CPUs try to do </a:t>
            </a:r>
            <a:r>
              <a:rPr lang="en-ZA" dirty="0">
                <a:latin typeface="CourierNewPSMT"/>
              </a:rPr>
              <a:t>TS(x)</a:t>
            </a:r>
            <a:r>
              <a:rPr lang="en-ZA" dirty="0"/>
              <a:t>, even at the same time, only one CPU can read </a:t>
            </a:r>
            <a:r>
              <a:rPr lang="en-ZA" b="1" dirty="0">
                <a:latin typeface="CourierNewPSMT"/>
              </a:rPr>
              <a:t>x</a:t>
            </a:r>
            <a:r>
              <a:rPr lang="en-ZA" dirty="0"/>
              <a:t> as 0, all others will read </a:t>
            </a:r>
            <a:r>
              <a:rPr lang="en-ZA" b="1" dirty="0">
                <a:latin typeface="CourierNewPSMT"/>
              </a:rPr>
              <a:t>x</a:t>
            </a:r>
            <a:r>
              <a:rPr lang="en-ZA" dirty="0"/>
              <a:t> as 1</a:t>
            </a:r>
          </a:p>
          <a:p>
            <a:pPr lvl="2"/>
            <a:r>
              <a:rPr lang="en-ZA" dirty="0"/>
              <a:t>the Intel x86 CPU equivalent instruction is </a:t>
            </a:r>
            <a:r>
              <a:rPr lang="en-ZA" b="1" dirty="0">
                <a:latin typeface="CourierNewPSMT"/>
              </a:rPr>
              <a:t>XCHG</a:t>
            </a:r>
          </a:p>
          <a:p>
            <a:pPr lvl="3"/>
            <a:r>
              <a:rPr lang="en-ZA" dirty="0"/>
              <a:t>exchanges a CPU register with a memory location in a single indivisible operation</a:t>
            </a:r>
          </a:p>
          <a:p>
            <a:endParaRPr lang="en-LS" dirty="0"/>
          </a:p>
        </p:txBody>
      </p:sp>
    </p:spTree>
    <p:extLst>
      <p:ext uri="{BB962C8B-B14F-4D97-AF65-F5344CB8AC3E}">
        <p14:creationId xmlns:p14="http://schemas.microsoft.com/office/powerpoint/2010/main" val="4191517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19788-7FF3-473A-91EB-9F2A1771E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Implementation of Critical Region</a:t>
            </a:r>
            <a:endParaRPr lang="en-L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378B4-292D-4057-BBB9-5976AB897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44706"/>
            <a:ext cx="8596668" cy="5365375"/>
          </a:xfrm>
        </p:spPr>
        <p:txBody>
          <a:bodyPr>
            <a:normAutofit lnSpcReduction="10000"/>
          </a:bodyPr>
          <a:lstStyle/>
          <a:p>
            <a:r>
              <a:rPr lang="en-ZA" dirty="0"/>
              <a:t>With the TS or equivalent instruction, we can implement a CR associated with x as follows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lvl="1"/>
            <a:r>
              <a:rPr lang="en-ZA" dirty="0"/>
              <a:t>Step (1), disable CPU interrupts to prevent process switching</a:t>
            </a:r>
          </a:p>
          <a:p>
            <a:pPr lvl="1"/>
            <a:r>
              <a:rPr lang="en-GB" dirty="0"/>
              <a:t>Step </a:t>
            </a:r>
            <a:r>
              <a:rPr lang="en-ZA" dirty="0"/>
              <a:t>(2), the process loops until </a:t>
            </a:r>
            <a:r>
              <a:rPr lang="en-ZA" dirty="0">
                <a:latin typeface="CourierNewPSMT"/>
              </a:rPr>
              <a:t>TS(x)</a:t>
            </a:r>
            <a:r>
              <a:rPr lang="en-ZA" dirty="0"/>
              <a:t> gets a 0 value</a:t>
            </a:r>
          </a:p>
          <a:p>
            <a:pPr lvl="1"/>
            <a:r>
              <a:rPr lang="en-GB" dirty="0"/>
              <a:t>Step (3), the process sets </a:t>
            </a:r>
            <a:r>
              <a:rPr lang="en-GB" b="1" dirty="0">
                <a:latin typeface="CourierNewPSMT"/>
              </a:rPr>
              <a:t>x</a:t>
            </a:r>
            <a:r>
              <a:rPr lang="en-GB" dirty="0"/>
              <a:t> to 1 and enters the critical region</a:t>
            </a:r>
          </a:p>
          <a:p>
            <a:pPr lvl="1"/>
            <a:r>
              <a:rPr lang="en-ZA" dirty="0"/>
              <a:t>Step (4), when the process finishes the CR, it sets </a:t>
            </a:r>
            <a:r>
              <a:rPr lang="en-ZA" b="1" dirty="0">
                <a:latin typeface="CourierNewPSMT"/>
              </a:rPr>
              <a:t>x</a:t>
            </a:r>
            <a:r>
              <a:rPr lang="en-ZA" dirty="0"/>
              <a:t> to 0</a:t>
            </a:r>
          </a:p>
          <a:p>
            <a:pPr lvl="1"/>
            <a:r>
              <a:rPr lang="en-ZA" dirty="0"/>
              <a:t>Step (5), the process enables CPU interrupts to allow process switching</a:t>
            </a:r>
          </a:p>
          <a:p>
            <a:r>
              <a:rPr lang="en-ZA" b="1" i="1" dirty="0"/>
              <a:t>NB:</a:t>
            </a:r>
            <a:r>
              <a:rPr lang="en-ZA" dirty="0"/>
              <a:t> spinlocks are convenient to use in multiprocessor systems when the CR duration is short</a:t>
            </a:r>
          </a:p>
          <a:p>
            <a:pPr lvl="1"/>
            <a:r>
              <a:rPr lang="en-ZA" dirty="0"/>
              <a:t>For uniprocessor systems, spinlock is not necessary and can be omitted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780F15-95B2-4C3E-90E5-97F00B793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157" y="2091764"/>
            <a:ext cx="7283021" cy="1846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0646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Overview of today’s lecture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ZA" dirty="0"/>
              <a:t>Introduction</a:t>
            </a:r>
            <a:r>
              <a:rPr lang="en-ZA" b="1" dirty="0">
                <a:solidFill>
                  <a:srgbClr val="FF0000"/>
                </a:solidFill>
              </a:rPr>
              <a:t> </a:t>
            </a:r>
          </a:p>
          <a:p>
            <a:r>
              <a:rPr lang="en-ZA" dirty="0"/>
              <a:t>Process Synchronization Problem</a:t>
            </a:r>
          </a:p>
          <a:p>
            <a:r>
              <a:rPr lang="en-ZA" dirty="0"/>
              <a:t>Critical Region and Implementation</a:t>
            </a:r>
          </a:p>
          <a:p>
            <a:r>
              <a:rPr lang="en-ZA" b="1" dirty="0">
                <a:solidFill>
                  <a:srgbClr val="FF0000"/>
                </a:solidFill>
              </a:rPr>
              <a:t>Process Synchronization Mechanisms</a:t>
            </a:r>
          </a:p>
          <a:p>
            <a:r>
              <a:rPr lang="en-ZA" dirty="0"/>
              <a:t>Pipes and Implementation</a:t>
            </a:r>
          </a:p>
          <a:p>
            <a:r>
              <a:rPr lang="en-ZA" dirty="0"/>
              <a:t>Message Passing</a:t>
            </a:r>
          </a:p>
        </p:txBody>
      </p:sp>
    </p:spTree>
    <p:extLst>
      <p:ext uri="{BB962C8B-B14F-4D97-AF65-F5344CB8AC3E}">
        <p14:creationId xmlns:p14="http://schemas.microsoft.com/office/powerpoint/2010/main" val="15617383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DB217-F5FD-41B0-9E21-1B0D9E037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dirty="0"/>
              <a:t>Process Synchronization Mechanisms</a:t>
            </a:r>
            <a:endParaRPr lang="en-L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2C1B-9A76-4695-9482-976142817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With the basic CR, we can implement other mechanisms for process synchronization:</a:t>
            </a:r>
          </a:p>
          <a:p>
            <a:pPr lvl="1"/>
            <a:r>
              <a:rPr lang="en-ZA" dirty="0"/>
              <a:t>Sleep/Wakeup and,</a:t>
            </a:r>
          </a:p>
          <a:p>
            <a:pPr lvl="1"/>
            <a:r>
              <a:rPr lang="en-ZA" dirty="0"/>
              <a:t>Semaphore</a:t>
            </a:r>
          </a:p>
          <a:p>
            <a:endParaRPr lang="en-LS" dirty="0"/>
          </a:p>
        </p:txBody>
      </p:sp>
    </p:spTree>
    <p:extLst>
      <p:ext uri="{BB962C8B-B14F-4D97-AF65-F5344CB8AC3E}">
        <p14:creationId xmlns:p14="http://schemas.microsoft.com/office/powerpoint/2010/main" val="19944582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27EFD-B72F-489C-9AE7-8E3266C9F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Sleep/Wakeup</a:t>
            </a:r>
            <a:endParaRPr lang="en-L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45B78-D325-4331-8CD7-626FD279C0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77471"/>
            <a:ext cx="8596668" cy="5419164"/>
          </a:xfrm>
        </p:spPr>
        <p:txBody>
          <a:bodyPr>
            <a:normAutofit/>
          </a:bodyPr>
          <a:lstStyle/>
          <a:p>
            <a:r>
              <a:rPr lang="en-ZA" dirty="0"/>
              <a:t>sleep/wakeup works only for UP kernels as only one process runs at a time</a:t>
            </a:r>
          </a:p>
          <a:p>
            <a:r>
              <a:rPr lang="en-ZA" dirty="0"/>
              <a:t>Process switch takes place only when the running process</a:t>
            </a:r>
          </a:p>
          <a:p>
            <a:pPr lvl="1"/>
            <a:r>
              <a:rPr lang="en-ZA" dirty="0"/>
              <a:t>terminates,</a:t>
            </a:r>
          </a:p>
          <a:p>
            <a:pPr lvl="1"/>
            <a:r>
              <a:rPr lang="en-ZA" dirty="0"/>
              <a:t>goes to sleep or becomes STOPPED or </a:t>
            </a:r>
            <a:r>
              <a:rPr lang="en-ZA" dirty="0" err="1"/>
              <a:t>BLOCKed</a:t>
            </a:r>
            <a:r>
              <a:rPr lang="en-ZA" dirty="0"/>
              <a:t>,</a:t>
            </a:r>
          </a:p>
          <a:p>
            <a:pPr lvl="1"/>
            <a:r>
              <a:rPr lang="en-ZA" dirty="0"/>
              <a:t>has finished kernel mode execution and is about to return to user mode</a:t>
            </a:r>
            <a:endParaRPr lang="en-GB" dirty="0"/>
          </a:p>
          <a:p>
            <a:r>
              <a:rPr lang="en-ZA" dirty="0"/>
              <a:t>When a process executes sleep or wakeup in kernel, it cannot be interfered</a:t>
            </a:r>
          </a:p>
          <a:p>
            <a:pPr lvl="1"/>
            <a:r>
              <a:rPr lang="en-ZA" dirty="0"/>
              <a:t>thus it suffices to disable interrupts upon entry to sleep or wakeup, and enable interrupts when the execution finishes</a:t>
            </a:r>
            <a:endParaRPr lang="en-GB" dirty="0"/>
          </a:p>
          <a:p>
            <a:r>
              <a:rPr lang="en-ZA" dirty="0"/>
              <a:t>Since sleep and wakeup may be called with interrupts disabled, </a:t>
            </a:r>
          </a:p>
          <a:p>
            <a:pPr lvl="1"/>
            <a:r>
              <a:rPr lang="en-ZA" dirty="0"/>
              <a:t>they should restore CPU’s original interrupt mask rather than always enable interrupts at the end</a:t>
            </a:r>
          </a:p>
          <a:p>
            <a:endParaRPr lang="en-LS" dirty="0"/>
          </a:p>
        </p:txBody>
      </p:sp>
    </p:spTree>
    <p:extLst>
      <p:ext uri="{BB962C8B-B14F-4D97-AF65-F5344CB8AC3E}">
        <p14:creationId xmlns:p14="http://schemas.microsoft.com/office/powerpoint/2010/main" val="14722213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27EFD-B72F-489C-9AE7-8E3266C9F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Semaphore</a:t>
            </a:r>
            <a:endParaRPr lang="en-L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45B78-D325-4331-8CD7-626FD279C0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77471"/>
            <a:ext cx="8596668" cy="5419164"/>
          </a:xfrm>
        </p:spPr>
        <p:txBody>
          <a:bodyPr>
            <a:normAutofit fontScale="85000" lnSpcReduction="20000"/>
          </a:bodyPr>
          <a:lstStyle/>
          <a:p>
            <a:r>
              <a:rPr lang="en-ZA" dirty="0"/>
              <a:t>A semaphore is a data structure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latin typeface="CourierNewPSMT2"/>
              </a:rPr>
              <a:t>	struct semaphore{</a:t>
            </a:r>
          </a:p>
          <a:p>
            <a:pPr marL="0" indent="0" algn="l">
              <a:buNone/>
            </a:pPr>
            <a:r>
              <a:rPr lang="en-ZA" sz="1800" b="0" i="0" u="none" strike="noStrike" baseline="0" dirty="0">
                <a:latin typeface="CourierNewPSMT2"/>
              </a:rPr>
              <a:t>		byte lock; 	// represents a CR; initial value = 0;</a:t>
            </a:r>
          </a:p>
          <a:p>
            <a:pPr marL="0" indent="0" algn="l">
              <a:buNone/>
            </a:pPr>
            <a:r>
              <a:rPr lang="en-ZA" sz="1800" b="0" i="0" u="none" strike="noStrike" baseline="0" dirty="0">
                <a:latin typeface="CourierNewPSMT2"/>
              </a:rPr>
              <a:t>		int value; 	// initial value of semaphore</a:t>
            </a:r>
          </a:p>
          <a:p>
            <a:pPr marL="0" indent="0" algn="l">
              <a:buNone/>
            </a:pPr>
            <a:r>
              <a:rPr lang="en-ZA" sz="1800" b="0" i="0" u="none" strike="noStrike" baseline="0" dirty="0">
                <a:latin typeface="CourierNewPSMT2"/>
              </a:rPr>
              <a:t>		PROC *queue; 	// a FIFO queue of </a:t>
            </a:r>
            <a:r>
              <a:rPr lang="en-ZA" sz="1800" b="0" i="0" u="none" strike="noStrike" baseline="0" dirty="0" err="1">
                <a:latin typeface="CourierNewPSMT2"/>
              </a:rPr>
              <a:t>BLOCKed</a:t>
            </a:r>
            <a:r>
              <a:rPr lang="en-ZA" sz="1800" b="0" i="0" u="none" strike="noStrike" baseline="0" dirty="0">
                <a:latin typeface="CourierNewPSMT2"/>
              </a:rPr>
              <a:t> processes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latin typeface="CourierNewPSMT2"/>
              </a:rPr>
              <a:t>	}s;</a:t>
            </a:r>
            <a:endParaRPr lang="en-ZA" dirty="0"/>
          </a:p>
          <a:p>
            <a:pPr lvl="1"/>
            <a:r>
              <a:rPr lang="en-ZA" dirty="0">
                <a:latin typeface="CourierNewPSMT"/>
              </a:rPr>
              <a:t>lock = 0</a:t>
            </a:r>
            <a:r>
              <a:rPr lang="en-ZA" dirty="0"/>
              <a:t> represents the CR, </a:t>
            </a:r>
          </a:p>
          <a:p>
            <a:pPr lvl="1"/>
            <a:r>
              <a:rPr lang="en-ZA" dirty="0">
                <a:latin typeface="CourierNewPSMT"/>
              </a:rPr>
              <a:t>value</a:t>
            </a:r>
            <a:r>
              <a:rPr lang="en-ZA" dirty="0"/>
              <a:t> is the initial value of the semaphore and </a:t>
            </a:r>
          </a:p>
          <a:p>
            <a:pPr lvl="1"/>
            <a:r>
              <a:rPr lang="en-ZA" dirty="0">
                <a:latin typeface="CourierNewPSMT"/>
              </a:rPr>
              <a:t>queue</a:t>
            </a:r>
            <a:r>
              <a:rPr lang="en-ZA" dirty="0"/>
              <a:t> is a FIFO queue of processes blocked on the semaphore</a:t>
            </a:r>
            <a:endParaRPr lang="en-GB" dirty="0"/>
          </a:p>
          <a:p>
            <a:r>
              <a:rPr lang="en-ZA" dirty="0"/>
              <a:t>All operations on a semaphore must be performed in the same CR of the semaphore’s lock e.g.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latin typeface="CourierNewPSMT2"/>
              </a:rPr>
              <a:t>	</a:t>
            </a:r>
            <a:r>
              <a:rPr lang="en-LS" sz="1800" b="0" i="0" u="none" strike="noStrike" baseline="0" dirty="0">
                <a:latin typeface="CourierNewPSMT2"/>
              </a:rPr>
              <a:t>------------------------------------------------------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latin typeface="CourierNewPSMT2"/>
              </a:rPr>
              <a:t>	</a:t>
            </a:r>
            <a:r>
              <a:rPr lang="en-GB" sz="1800" b="0" i="0" u="none" strike="noStrike" baseline="0" dirty="0" err="1">
                <a:latin typeface="CourierNewPSMT2"/>
              </a:rPr>
              <a:t>enterCR</a:t>
            </a:r>
            <a:r>
              <a:rPr lang="en-GB" sz="1800" b="0" i="0" u="none" strike="noStrike" baseline="0" dirty="0">
                <a:latin typeface="CourierNewPSMT2"/>
              </a:rPr>
              <a:t>(byte *lock) 		| 		</a:t>
            </a:r>
            <a:r>
              <a:rPr lang="en-GB" sz="1800" b="0" i="0" u="none" strike="noStrike" baseline="0" dirty="0" err="1">
                <a:latin typeface="CourierNewPSMT2"/>
              </a:rPr>
              <a:t>exitCR</a:t>
            </a:r>
            <a:r>
              <a:rPr lang="en-GB" sz="1800" b="0" i="0" u="none" strike="noStrike" baseline="0" dirty="0">
                <a:latin typeface="CourierNewPSMT2"/>
              </a:rPr>
              <a:t>(byte *lock)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latin typeface="CourierNewPSMT2"/>
              </a:rPr>
              <a:t>	</a:t>
            </a:r>
            <a:r>
              <a:rPr lang="en-LS" sz="1800" b="0" i="0" u="none" strike="noStrike" baseline="0" dirty="0">
                <a:latin typeface="CourierNewPSMT2"/>
              </a:rPr>
              <a:t>{ </a:t>
            </a:r>
            <a:r>
              <a:rPr lang="en-GB" sz="1800" b="0" i="0" u="none" strike="noStrike" baseline="0" dirty="0">
                <a:latin typeface="CourierNewPSMT2"/>
              </a:rPr>
              <a:t>							</a:t>
            </a:r>
            <a:r>
              <a:rPr lang="en-LS" sz="1800" b="0" i="0" u="none" strike="noStrike" baseline="0" dirty="0">
                <a:latin typeface="CourierNewPSMT2"/>
              </a:rPr>
              <a:t>| </a:t>
            </a:r>
            <a:r>
              <a:rPr lang="en-GB" sz="1800" b="0" i="0" u="none" strike="noStrike" baseline="0" dirty="0">
                <a:latin typeface="CourierNewPSMT2"/>
              </a:rPr>
              <a:t>		</a:t>
            </a:r>
            <a:r>
              <a:rPr lang="en-LS" sz="1800" b="0" i="0" u="none" strike="noStrike" baseline="0" dirty="0">
                <a:latin typeface="CourierNewPSMT2"/>
              </a:rPr>
              <a:t>{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latin typeface="CourierNewPSMT2"/>
              </a:rPr>
              <a:t>		</a:t>
            </a:r>
            <a:r>
              <a:rPr lang="en-GB" sz="1800" b="0" i="0" u="none" strike="noStrike" baseline="0" dirty="0" err="1">
                <a:latin typeface="CourierNewPSMT2"/>
              </a:rPr>
              <a:t>int_off</a:t>
            </a:r>
            <a:r>
              <a:rPr lang="en-GB" sz="1800" b="0" i="0" u="none" strike="noStrike" baseline="0" dirty="0">
                <a:latin typeface="CourierNewPSMT2"/>
              </a:rPr>
              <a:t>; 				| 			*lock = 0;</a:t>
            </a:r>
          </a:p>
          <a:p>
            <a:pPr marL="0" indent="0" algn="l">
              <a:buNone/>
            </a:pPr>
            <a:r>
              <a:rPr lang="en-ZA" sz="1800" b="0" i="0" u="none" strike="noStrike" baseline="0" dirty="0">
                <a:latin typeface="CourierNewPSMT2"/>
              </a:rPr>
              <a:t>		while(TS(*lock)); 		| 			</a:t>
            </a:r>
            <a:r>
              <a:rPr lang="en-ZA" sz="1800" b="0" i="0" u="none" strike="noStrike" baseline="0" dirty="0" err="1">
                <a:latin typeface="CourierNewPSMT2"/>
              </a:rPr>
              <a:t>int_on</a:t>
            </a:r>
            <a:r>
              <a:rPr lang="en-ZA" sz="1800" b="0" i="0" u="none" strike="noStrike" baseline="0" dirty="0">
                <a:latin typeface="CourierNewPSMT2"/>
              </a:rPr>
              <a:t>;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latin typeface="CourierNewPSMT2"/>
              </a:rPr>
              <a:t>	</a:t>
            </a:r>
            <a:r>
              <a:rPr lang="en-LS" sz="1800" b="0" i="0" u="none" strike="noStrike" baseline="0" dirty="0">
                <a:latin typeface="CourierNewPSMT2"/>
              </a:rPr>
              <a:t>} </a:t>
            </a:r>
            <a:r>
              <a:rPr lang="en-GB" sz="1800" b="0" i="0" u="none" strike="noStrike" baseline="0" dirty="0">
                <a:latin typeface="CourierNewPSMT2"/>
              </a:rPr>
              <a:t>							</a:t>
            </a:r>
            <a:r>
              <a:rPr lang="en-LS" sz="1800" b="0" i="0" u="none" strike="noStrike" baseline="0" dirty="0">
                <a:latin typeface="CourierNewPSMT2"/>
              </a:rPr>
              <a:t>| </a:t>
            </a:r>
            <a:r>
              <a:rPr lang="en-GB" sz="1800" b="0" i="0" u="none" strike="noStrike" baseline="0" dirty="0">
                <a:latin typeface="CourierNewPSMT2"/>
              </a:rPr>
              <a:t>		</a:t>
            </a:r>
            <a:r>
              <a:rPr lang="en-LS" sz="1800" b="0" i="0" u="none" strike="noStrike" baseline="0" dirty="0">
                <a:latin typeface="CourierNewPSMT2"/>
              </a:rPr>
              <a:t>}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latin typeface="CourierNewPSMT2"/>
              </a:rPr>
              <a:t>	</a:t>
            </a:r>
            <a:r>
              <a:rPr lang="en-LS" sz="1800" b="0" i="0" u="none" strike="noStrike" baseline="0" dirty="0">
                <a:latin typeface="CourierNewPSMT2"/>
              </a:rPr>
              <a:t>------------------------------------------------------</a:t>
            </a:r>
            <a:endParaRPr lang="en-LS" dirty="0"/>
          </a:p>
        </p:txBody>
      </p:sp>
    </p:spTree>
    <p:extLst>
      <p:ext uri="{BB962C8B-B14F-4D97-AF65-F5344CB8AC3E}">
        <p14:creationId xmlns:p14="http://schemas.microsoft.com/office/powerpoint/2010/main" val="9032006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27EFD-B72F-489C-9AE7-8E3266C9F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Semaphore</a:t>
            </a:r>
            <a:endParaRPr lang="en-L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45B78-D325-4331-8CD7-626FD279C0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77471"/>
            <a:ext cx="8596668" cy="5419164"/>
          </a:xfrm>
        </p:spPr>
        <p:txBody>
          <a:bodyPr>
            <a:normAutofit fontScale="85000" lnSpcReduction="20000"/>
          </a:bodyPr>
          <a:lstStyle/>
          <a:p>
            <a:r>
              <a:rPr lang="en-ZA" dirty="0"/>
              <a:t>The most well-known operations on semaphores are P and V, which are defined as follows: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latin typeface="CourierNewPSMT2"/>
              </a:rPr>
              <a:t>	</a:t>
            </a:r>
            <a:r>
              <a:rPr lang="en-LS" sz="1800" b="0" i="0" u="none" strike="noStrike" baseline="0" dirty="0">
                <a:latin typeface="CourierNewPSMT2"/>
              </a:rPr>
              <a:t>-----------------------------------------</a:t>
            </a:r>
            <a:r>
              <a:rPr lang="en-GB" sz="1800" b="0" i="0" u="none" strike="noStrike" baseline="0" dirty="0">
                <a:latin typeface="CourierNewPSMT2"/>
              </a:rPr>
              <a:t>-----</a:t>
            </a:r>
            <a:r>
              <a:rPr lang="en-LS" sz="1800" b="0" i="0" u="none" strike="noStrike" baseline="0" dirty="0">
                <a:latin typeface="CourierNewPSMT2"/>
              </a:rPr>
              <a:t>-------------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ZA" sz="1800" b="0" i="0" u="none" strike="noStrike" baseline="0" dirty="0">
                <a:latin typeface="CourierNewPSMT2"/>
              </a:rPr>
              <a:t>	P(struct </a:t>
            </a:r>
            <a:r>
              <a:rPr lang="en-ZA" sz="1800" b="0" i="0" u="none" strike="noStrike" baseline="0" dirty="0" err="1">
                <a:latin typeface="CourierNewPSMT2"/>
              </a:rPr>
              <a:t>sempahore</a:t>
            </a:r>
            <a:r>
              <a:rPr lang="en-ZA" sz="1800" b="0" i="0" u="none" strike="noStrike" baseline="0" dirty="0">
                <a:latin typeface="CourierNewPSMT2"/>
              </a:rPr>
              <a:t> *s) 		| 		V(struct semaphore *s)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GB" sz="1800" b="0" i="0" u="none" strike="noStrike" baseline="0" dirty="0">
                <a:latin typeface="CourierNewPSMT2"/>
              </a:rPr>
              <a:t>	</a:t>
            </a:r>
            <a:r>
              <a:rPr lang="en-LS" sz="1800" b="0" i="0" u="none" strike="noStrike" baseline="0" dirty="0">
                <a:latin typeface="CourierNewPSMT2"/>
              </a:rPr>
              <a:t>{ </a:t>
            </a:r>
            <a:r>
              <a:rPr lang="en-GB" sz="1800" b="0" i="0" u="none" strike="noStrike" baseline="0" dirty="0">
                <a:latin typeface="CourierNewPSMT2"/>
              </a:rPr>
              <a:t>							</a:t>
            </a:r>
            <a:r>
              <a:rPr lang="en-LS" sz="1800" b="0" i="0" u="none" strike="noStrike" baseline="0" dirty="0">
                <a:latin typeface="CourierNewPSMT2"/>
              </a:rPr>
              <a:t>| </a:t>
            </a:r>
            <a:r>
              <a:rPr lang="en-GB" sz="1800" b="0" i="0" u="none" strike="noStrike" baseline="0" dirty="0">
                <a:latin typeface="CourierNewPSMT2"/>
              </a:rPr>
              <a:t>		</a:t>
            </a:r>
            <a:r>
              <a:rPr lang="en-LS" sz="1800" b="0" i="0" u="none" strike="noStrike" baseline="0" dirty="0">
                <a:latin typeface="CourierNewPSMT2"/>
              </a:rPr>
              <a:t>{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GB" sz="1800" b="0" i="0" u="none" strike="noStrike" baseline="0" dirty="0">
                <a:latin typeface="CourierNewPSMT2"/>
              </a:rPr>
              <a:t>		</a:t>
            </a:r>
            <a:r>
              <a:rPr lang="en-GB" sz="1800" b="0" i="0" u="none" strike="noStrike" baseline="0" dirty="0" err="1">
                <a:latin typeface="CourierNewPSMT2"/>
              </a:rPr>
              <a:t>enterCR</a:t>
            </a:r>
            <a:r>
              <a:rPr lang="en-GB" sz="1800" b="0" i="0" u="none" strike="noStrike" baseline="0" dirty="0">
                <a:latin typeface="CourierNewPSMT2"/>
              </a:rPr>
              <a:t>(&amp;s-&gt;lock); 		| 			</a:t>
            </a:r>
            <a:r>
              <a:rPr lang="en-GB" sz="1800" b="0" i="0" u="none" strike="noStrike" baseline="0" dirty="0" err="1">
                <a:latin typeface="CourierNewPSMT2"/>
              </a:rPr>
              <a:t>enterCR</a:t>
            </a:r>
            <a:r>
              <a:rPr lang="en-GB" sz="1800" b="0" i="0" u="none" strike="noStrike" baseline="0" dirty="0">
                <a:latin typeface="CourierNewPSMT2"/>
              </a:rPr>
              <a:t>(&amp;s-&gt;lock);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GB" sz="1800" b="0" i="0" u="none" strike="noStrike" baseline="0" dirty="0">
                <a:latin typeface="CourierNewPSMT2"/>
              </a:rPr>
              <a:t>		s-&gt;value--; 			| 			s-&gt;value++;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ZA" sz="1800" b="0" i="0" u="none" strike="noStrike" baseline="0" dirty="0">
                <a:latin typeface="CourierNewPSMT2"/>
              </a:rPr>
              <a:t>		if (s-&gt;value &lt; 0) 		| 			if (s-&gt;value &lt;= 0)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GB" sz="1800" b="0" i="0" u="none" strike="noStrike" baseline="0" dirty="0">
                <a:latin typeface="CourierNewPSMT2"/>
              </a:rPr>
              <a:t>			BLOCK(s); 			| 				SIGNAL(s);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ZA" sz="1800" b="0" i="0" u="none" strike="noStrike" baseline="0" dirty="0">
                <a:latin typeface="CourierNewPSMT2"/>
              </a:rPr>
              <a:t>		else </a:t>
            </a:r>
            <a:r>
              <a:rPr lang="en-ZA" sz="1800" b="0" i="0" u="none" strike="noStrike" baseline="0" dirty="0" err="1">
                <a:latin typeface="CourierNewPSMT2"/>
              </a:rPr>
              <a:t>exitCR</a:t>
            </a:r>
            <a:r>
              <a:rPr lang="en-ZA" sz="1800" b="0" i="0" u="none" strike="noStrike" baseline="0" dirty="0">
                <a:latin typeface="CourierNewPSMT2"/>
              </a:rPr>
              <a:t>(&amp;s-&gt;lock); 	| 			</a:t>
            </a:r>
            <a:r>
              <a:rPr lang="en-ZA" sz="1800" b="0" i="0" u="none" strike="noStrike" baseline="0" dirty="0" err="1">
                <a:latin typeface="CourierNewPSMT2"/>
              </a:rPr>
              <a:t>exitCR</a:t>
            </a:r>
            <a:r>
              <a:rPr lang="en-ZA" sz="1800" b="0" i="0" u="none" strike="noStrike" baseline="0" dirty="0">
                <a:latin typeface="CourierNewPSMT2"/>
              </a:rPr>
              <a:t>(&amp;s-&gt;lock);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GB" sz="1800" b="0" i="0" u="none" strike="noStrike" baseline="0" dirty="0">
                <a:latin typeface="CourierNewPSMT2"/>
              </a:rPr>
              <a:t>	</a:t>
            </a:r>
            <a:r>
              <a:rPr lang="en-LS" sz="1800" b="0" i="0" u="none" strike="noStrike" baseline="0" dirty="0">
                <a:latin typeface="CourierNewPSMT2"/>
              </a:rPr>
              <a:t>} </a:t>
            </a:r>
            <a:r>
              <a:rPr lang="en-GB" sz="1800" b="0" i="0" u="none" strike="noStrike" baseline="0" dirty="0">
                <a:latin typeface="CourierNewPSMT2"/>
              </a:rPr>
              <a:t>							</a:t>
            </a:r>
            <a:r>
              <a:rPr lang="en-LS" sz="1800" b="0" i="0" u="none" strike="noStrike" baseline="0" dirty="0">
                <a:latin typeface="CourierNewPSMT2"/>
              </a:rPr>
              <a:t>| </a:t>
            </a:r>
            <a:r>
              <a:rPr lang="en-GB" sz="1800" b="0" i="0" u="none" strike="noStrike" baseline="0" dirty="0">
                <a:latin typeface="CourierNewPSMT2"/>
              </a:rPr>
              <a:t>		</a:t>
            </a:r>
            <a:r>
              <a:rPr lang="en-LS" sz="1800" b="0" i="0" u="none" strike="noStrike" baseline="0" dirty="0">
                <a:latin typeface="CourierNewPSMT2"/>
              </a:rPr>
              <a:t>}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GB" sz="1800" b="0" i="0" u="none" strike="noStrike" baseline="0" dirty="0">
                <a:latin typeface="CourierNewPSMT2"/>
              </a:rPr>
              <a:t>	</a:t>
            </a:r>
            <a:r>
              <a:rPr lang="en-LS" sz="1800" b="0" i="0" u="none" strike="noStrike" baseline="0" dirty="0">
                <a:latin typeface="CourierNewPSMT2"/>
              </a:rPr>
              <a:t>------------------------------------</a:t>
            </a:r>
            <a:r>
              <a:rPr lang="en-GB" sz="1800" b="0" i="0" u="none" strike="noStrike" baseline="0" dirty="0">
                <a:latin typeface="CourierNewPSMT2"/>
              </a:rPr>
              <a:t>-----</a:t>
            </a:r>
            <a:r>
              <a:rPr lang="en-LS" sz="1800" b="0" i="0" u="none" strike="noStrike" baseline="0" dirty="0">
                <a:latin typeface="CourierNewPSMT2"/>
              </a:rPr>
              <a:t>------------------</a:t>
            </a:r>
            <a:endParaRPr lang="en-GB" dirty="0"/>
          </a:p>
          <a:p>
            <a:r>
              <a:rPr lang="en-ZA" dirty="0">
                <a:latin typeface="CourierNewPSMT"/>
              </a:rPr>
              <a:t>BLOCK(s)</a:t>
            </a:r>
            <a:r>
              <a:rPr lang="en-ZA" dirty="0"/>
              <a:t> blocks the process in the semaphore’s FIFO queue, and</a:t>
            </a:r>
          </a:p>
          <a:p>
            <a:r>
              <a:rPr lang="en-ZA" dirty="0">
                <a:latin typeface="CourierNewPSMT"/>
              </a:rPr>
              <a:t>SIGNAL(s)</a:t>
            </a:r>
            <a:r>
              <a:rPr lang="en-ZA" dirty="0"/>
              <a:t> unblocks the first process from the semaphore's FIFO queue</a:t>
            </a:r>
            <a:endParaRPr lang="en-GB" dirty="0"/>
          </a:p>
          <a:p>
            <a:pPr marL="0" indent="0" algn="l">
              <a:buNone/>
            </a:pPr>
            <a:r>
              <a:rPr lang="en-GB" sz="1800" b="0" i="0" u="none" strike="noStrike" baseline="0" dirty="0">
                <a:latin typeface="CourierNewPSMT2"/>
              </a:rPr>
              <a:t>	</a:t>
            </a:r>
            <a:r>
              <a:rPr lang="en-LS" sz="1800" b="0" i="0" u="none" strike="noStrike" baseline="0" dirty="0">
                <a:latin typeface="CourierNewPSMT2"/>
              </a:rPr>
              <a:t>-----</a:t>
            </a:r>
            <a:r>
              <a:rPr lang="en-GB" sz="1800" b="0" i="0" u="none" strike="noStrike" baseline="0" dirty="0">
                <a:latin typeface="CourierNewPSMT2"/>
              </a:rPr>
              <a:t>----</a:t>
            </a:r>
            <a:r>
              <a:rPr lang="en-LS" sz="1800" b="0" i="0" u="none" strike="noStrike" baseline="0" dirty="0">
                <a:latin typeface="CourierNewPSMT2"/>
              </a:rPr>
              <a:t>-----------------------------------------------------------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ZA" sz="1800" b="0" i="0" u="none" strike="noStrike" baseline="0" dirty="0">
                <a:latin typeface="CourierNewPSMT2"/>
              </a:rPr>
              <a:t>	BLOCK(struct semaphore *s) 		| 		SINGAL(struct semaphore *s)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GB" sz="1800" b="0" i="0" u="none" strike="noStrike" baseline="0" dirty="0">
                <a:latin typeface="CourierNewPSMT2"/>
              </a:rPr>
              <a:t>	</a:t>
            </a:r>
            <a:r>
              <a:rPr lang="en-LS" sz="1800" b="0" i="0" u="none" strike="noStrike" baseline="0" dirty="0">
                <a:latin typeface="CourierNewPSMT2"/>
              </a:rPr>
              <a:t>{ </a:t>
            </a:r>
            <a:r>
              <a:rPr lang="en-GB" sz="1800" b="0" i="0" u="none" strike="noStrike" baseline="0" dirty="0">
                <a:latin typeface="CourierNewPSMT2"/>
              </a:rPr>
              <a:t>								</a:t>
            </a:r>
            <a:r>
              <a:rPr lang="en-LS" sz="1800" b="0" i="0" u="none" strike="noStrike" baseline="0" dirty="0">
                <a:latin typeface="CourierNewPSMT2"/>
              </a:rPr>
              <a:t>| </a:t>
            </a:r>
            <a:r>
              <a:rPr lang="en-GB" sz="1800" b="0" i="0" u="none" strike="noStrike" baseline="0" dirty="0">
                <a:latin typeface="CourierNewPSMT2"/>
              </a:rPr>
              <a:t>		</a:t>
            </a:r>
            <a:r>
              <a:rPr lang="en-LS" sz="1800" b="0" i="0" u="none" strike="noStrike" baseline="0" dirty="0">
                <a:latin typeface="CourierNewPSMT2"/>
              </a:rPr>
              <a:t>{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sv-SE" sz="1800" b="0" i="0" u="none" strike="noStrike" baseline="0" dirty="0">
                <a:latin typeface="CourierNewPSMT2"/>
              </a:rPr>
              <a:t>		running-&gt;status = BLOCK; 	| 			PROC *p;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pt-BR" sz="1800" b="0" i="0" u="none" strike="noStrike" baseline="0" dirty="0">
                <a:latin typeface="CourierNewPSMT2"/>
              </a:rPr>
              <a:t>		enqueue(&amp;s-&gt;queue,running); | 			p = dequeue(&amp;s-&gt;queue);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ZA" sz="1800" b="0" i="0" u="none" strike="noStrike" baseline="0" dirty="0">
                <a:latin typeface="CourierNewPSMT2"/>
              </a:rPr>
              <a:t>		s-&gt;lock = 0; // only for MP | 			p-&gt;status = READY;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ZA" sz="1800" b="0" i="0" u="none" strike="noStrike" baseline="0" dirty="0">
                <a:latin typeface="CourierNewPSMT2"/>
              </a:rPr>
              <a:t>		switch process; </a:t>
            </a:r>
            <a:r>
              <a:rPr lang="en-ZA" sz="1800" b="0" i="0" u="none" strike="noStrike" baseline="0" dirty="0" err="1">
                <a:latin typeface="CourierNewPSMT2"/>
              </a:rPr>
              <a:t>int_on</a:t>
            </a:r>
            <a:r>
              <a:rPr lang="en-ZA" sz="1800" b="0" i="0" u="none" strike="noStrike" baseline="0" dirty="0">
                <a:latin typeface="CourierNewPSMT2"/>
              </a:rPr>
              <a:t>; 	| 			enqueue(&amp;</a:t>
            </a:r>
            <a:r>
              <a:rPr lang="en-ZA" sz="1800" b="0" i="0" u="none" strike="noStrike" baseline="0" dirty="0" err="1">
                <a:latin typeface="CourierNewPSMT2"/>
              </a:rPr>
              <a:t>readyQueue</a:t>
            </a:r>
            <a:r>
              <a:rPr lang="en-ZA" sz="1800" b="0" i="0" u="none" strike="noStrike" baseline="0" dirty="0">
                <a:latin typeface="CourierNewPSMT2"/>
              </a:rPr>
              <a:t>, p);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GB" sz="1800" b="0" i="0" u="none" strike="noStrike" baseline="0" dirty="0">
                <a:latin typeface="CourierNewPSMT2"/>
              </a:rPr>
              <a:t>	</a:t>
            </a:r>
            <a:r>
              <a:rPr lang="en-LS" sz="1800" b="0" i="0" u="none" strike="noStrike" baseline="0" dirty="0">
                <a:latin typeface="CourierNewPSMT2"/>
              </a:rPr>
              <a:t>} </a:t>
            </a:r>
            <a:r>
              <a:rPr lang="en-GB" sz="1800" b="0" i="0" u="none" strike="noStrike" baseline="0" dirty="0">
                <a:latin typeface="CourierNewPSMT2"/>
              </a:rPr>
              <a:t>								</a:t>
            </a:r>
            <a:r>
              <a:rPr lang="en-LS" sz="1800" b="0" i="0" u="none" strike="noStrike" baseline="0" dirty="0">
                <a:latin typeface="CourierNewPSMT2"/>
              </a:rPr>
              <a:t>| </a:t>
            </a:r>
            <a:r>
              <a:rPr lang="en-GB" sz="1800" b="0" i="0" u="none" strike="noStrike" baseline="0" dirty="0">
                <a:latin typeface="CourierNewPSMT2"/>
              </a:rPr>
              <a:t>		</a:t>
            </a:r>
            <a:r>
              <a:rPr lang="en-LS" sz="1800" b="0" i="0" u="none" strike="noStrike" baseline="0" dirty="0">
                <a:latin typeface="CourierNewPSMT2"/>
              </a:rPr>
              <a:t>}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GB" sz="1800" b="0" i="0" u="none" strike="noStrike" baseline="0" dirty="0">
                <a:latin typeface="CourierNewPSMT2"/>
              </a:rPr>
              <a:t>	-----</a:t>
            </a:r>
            <a:r>
              <a:rPr lang="en-LS" sz="1800" b="0" i="0" u="none" strike="noStrike" baseline="0" dirty="0">
                <a:latin typeface="CourierNewPSMT2"/>
              </a:rPr>
              <a:t>---------------------------------------------------------------</a:t>
            </a:r>
            <a:endParaRPr lang="en-LS" dirty="0"/>
          </a:p>
        </p:txBody>
      </p:sp>
    </p:spTree>
    <p:extLst>
      <p:ext uri="{BB962C8B-B14F-4D97-AF65-F5344CB8AC3E}">
        <p14:creationId xmlns:p14="http://schemas.microsoft.com/office/powerpoint/2010/main" val="26514424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4019B-12BD-436B-BFD6-AA6697C4A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Process Synchronization in MTX</a:t>
            </a:r>
            <a:endParaRPr lang="en-L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33678-4E15-41E7-8061-EC8AC74AA8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will </a:t>
            </a:r>
            <a:r>
              <a:rPr lang="en-ZA" dirty="0"/>
              <a:t>use a mixture of process synchronization tools in our OS</a:t>
            </a:r>
          </a:p>
          <a:p>
            <a:pPr lvl="1"/>
            <a:r>
              <a:rPr lang="en-ZA" dirty="0"/>
              <a:t>For process management, </a:t>
            </a:r>
          </a:p>
          <a:p>
            <a:pPr lvl="2"/>
            <a:r>
              <a:rPr lang="en-ZA" dirty="0"/>
              <a:t>we use sleep/wakeup because they are easy to understand and compatible with Unix</a:t>
            </a:r>
          </a:p>
          <a:p>
            <a:pPr lvl="1"/>
            <a:r>
              <a:rPr lang="en-ZA" dirty="0"/>
              <a:t>For resource management, </a:t>
            </a:r>
          </a:p>
          <a:p>
            <a:pPr lvl="2"/>
            <a:r>
              <a:rPr lang="en-ZA" dirty="0"/>
              <a:t>we use semaphores because each V operation unblocks only one waiting process, which eliminates unnecessary process switching</a:t>
            </a:r>
          </a:p>
          <a:p>
            <a:pPr lvl="1"/>
            <a:r>
              <a:rPr lang="en-ZA" dirty="0"/>
              <a:t>In file system and device drivers, </a:t>
            </a:r>
          </a:p>
          <a:p>
            <a:pPr lvl="2"/>
            <a:r>
              <a:rPr lang="en-ZA" dirty="0"/>
              <a:t>we also use semaphores because they simplify the transition from uniprocessor environment to SMP on multiprocessor systems</a:t>
            </a:r>
            <a:endParaRPr lang="en-LS" dirty="0"/>
          </a:p>
        </p:txBody>
      </p:sp>
    </p:spTree>
    <p:extLst>
      <p:ext uri="{BB962C8B-B14F-4D97-AF65-F5344CB8AC3E}">
        <p14:creationId xmlns:p14="http://schemas.microsoft.com/office/powerpoint/2010/main" val="26303281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Overview of today’s lecture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ZA" dirty="0"/>
              <a:t>Introduction</a:t>
            </a:r>
            <a:r>
              <a:rPr lang="en-ZA" b="1" dirty="0">
                <a:solidFill>
                  <a:srgbClr val="FF0000"/>
                </a:solidFill>
              </a:rPr>
              <a:t> </a:t>
            </a:r>
          </a:p>
          <a:p>
            <a:r>
              <a:rPr lang="en-ZA" dirty="0"/>
              <a:t>Process Synchronization Problem</a:t>
            </a:r>
          </a:p>
          <a:p>
            <a:r>
              <a:rPr lang="en-ZA" dirty="0"/>
              <a:t>Critical Region and Implementation</a:t>
            </a:r>
          </a:p>
          <a:p>
            <a:r>
              <a:rPr lang="en-ZA" dirty="0"/>
              <a:t>Process Synchronization Mechanisms</a:t>
            </a:r>
          </a:p>
          <a:p>
            <a:r>
              <a:rPr lang="en-ZA" b="1" dirty="0">
                <a:solidFill>
                  <a:srgbClr val="FF0000"/>
                </a:solidFill>
              </a:rPr>
              <a:t>Pipes and Implementation</a:t>
            </a:r>
          </a:p>
          <a:p>
            <a:r>
              <a:rPr lang="en-ZA" dirty="0"/>
              <a:t>Message Passing</a:t>
            </a:r>
          </a:p>
        </p:txBody>
      </p:sp>
    </p:spTree>
    <p:extLst>
      <p:ext uri="{BB962C8B-B14F-4D97-AF65-F5344CB8AC3E}">
        <p14:creationId xmlns:p14="http://schemas.microsoft.com/office/powerpoint/2010/main" val="2279333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B879B-E4BC-4F91-8040-C214DD80B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Pipes </a:t>
            </a:r>
            <a:endParaRPr lang="en-L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EF7BF-F086-4CC8-A608-A73E4B0A4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19518"/>
            <a:ext cx="8596668" cy="5150223"/>
          </a:xfrm>
        </p:spPr>
        <p:txBody>
          <a:bodyPr>
            <a:normAutofit/>
          </a:bodyPr>
          <a:lstStyle/>
          <a:p>
            <a:r>
              <a:rPr lang="en-ZA" dirty="0"/>
              <a:t>Pipes are unidirectional inter-process communication channels for processes to exchange data </a:t>
            </a:r>
          </a:p>
          <a:p>
            <a:r>
              <a:rPr lang="en-ZA" dirty="0"/>
              <a:t>A pipe has a read end and a write end </a:t>
            </a:r>
          </a:p>
          <a:p>
            <a:pPr lvl="1"/>
            <a:r>
              <a:rPr lang="en-ZA" dirty="0"/>
              <a:t>Data written to the write end of a pipe can be read from the read end of the pipe</a:t>
            </a:r>
          </a:p>
          <a:p>
            <a:r>
              <a:rPr lang="en-ZA" dirty="0"/>
              <a:t>Some systems though, allow pipes to be bidirectional </a:t>
            </a:r>
          </a:p>
          <a:p>
            <a:pPr lvl="1"/>
            <a:r>
              <a:rPr lang="en-ZA" dirty="0"/>
              <a:t>data can be transmitted in both directions</a:t>
            </a:r>
          </a:p>
          <a:p>
            <a:r>
              <a:rPr lang="en-ZA" dirty="0"/>
              <a:t>Ordinary pipes are for related processes </a:t>
            </a:r>
          </a:p>
          <a:p>
            <a:r>
              <a:rPr lang="en-ZA" dirty="0"/>
              <a:t>Named pipes are FIFO communication channels between unrelated processes </a:t>
            </a:r>
          </a:p>
          <a:p>
            <a:r>
              <a:rPr lang="en-ZA" dirty="0"/>
              <a:t>Reading and writing pipes are usually synchronous and blocking </a:t>
            </a:r>
          </a:p>
          <a:p>
            <a:r>
              <a:rPr lang="en-ZA" dirty="0"/>
              <a:t>Some systems support non-blocking and asynchronous read/write operations on pipes</a:t>
            </a:r>
          </a:p>
          <a:p>
            <a:r>
              <a:rPr lang="en-ZA" dirty="0"/>
              <a:t>For simplicity, </a:t>
            </a:r>
          </a:p>
          <a:p>
            <a:pPr lvl="1"/>
            <a:r>
              <a:rPr lang="en-ZA" dirty="0"/>
              <a:t>we shall consider a pipe as a finite-sized FIFO communication channel between a set of related processes</a:t>
            </a:r>
          </a:p>
          <a:p>
            <a:endParaRPr lang="en-LS" dirty="0"/>
          </a:p>
        </p:txBody>
      </p:sp>
    </p:spTree>
    <p:extLst>
      <p:ext uri="{BB962C8B-B14F-4D97-AF65-F5344CB8AC3E}">
        <p14:creationId xmlns:p14="http://schemas.microsoft.com/office/powerpoint/2010/main" val="8434806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B879B-E4BC-4F91-8040-C214DD80B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Pipe Synchronization </a:t>
            </a:r>
            <a:endParaRPr lang="en-L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EF7BF-F086-4CC8-A608-A73E4B0A4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06070"/>
            <a:ext cx="8596668" cy="5351929"/>
          </a:xfrm>
        </p:spPr>
        <p:txBody>
          <a:bodyPr>
            <a:normAutofit fontScale="92500" lnSpcReduction="20000"/>
          </a:bodyPr>
          <a:lstStyle/>
          <a:p>
            <a:r>
              <a:rPr lang="en-ZA" dirty="0"/>
              <a:t>A process can only be either a reader or a writer on a pipe, but not both</a:t>
            </a:r>
          </a:p>
          <a:p>
            <a:pPr lvl="1"/>
            <a:r>
              <a:rPr lang="en-ZA" dirty="0"/>
              <a:t>After creating a pipe, the process forks a child process to share the pipe</a:t>
            </a:r>
          </a:p>
          <a:p>
            <a:pPr lvl="2"/>
            <a:r>
              <a:rPr lang="en-ZA" dirty="0"/>
              <a:t>The user must designate one of the processes as a writer and the other one as a reader of the pipe. </a:t>
            </a:r>
          </a:p>
          <a:p>
            <a:pPr lvl="2"/>
            <a:r>
              <a:rPr lang="en-ZA" dirty="0"/>
              <a:t>The order does not matter as long as each process is designated to play only a single role</a:t>
            </a:r>
          </a:p>
          <a:p>
            <a:r>
              <a:rPr lang="en-ZA" dirty="0"/>
              <a:t>Reading from a pipe, </a:t>
            </a:r>
          </a:p>
          <a:p>
            <a:pPr lvl="1"/>
            <a:r>
              <a:rPr lang="en-ZA" dirty="0"/>
              <a:t>if the pipe has data, the reader reads as much as it needs and returns the number of bytes read </a:t>
            </a:r>
          </a:p>
          <a:p>
            <a:pPr lvl="1"/>
            <a:r>
              <a:rPr lang="en-ZA" dirty="0"/>
              <a:t>if the pipe has no data but still has writers, the reader waits for data </a:t>
            </a:r>
          </a:p>
          <a:p>
            <a:pPr lvl="2"/>
            <a:r>
              <a:rPr lang="en-ZA" dirty="0"/>
              <a:t>when a reader reads data from the pipe to create more room, it wakes up the waiting writers allowing them to continue</a:t>
            </a:r>
          </a:p>
          <a:p>
            <a:pPr lvl="1"/>
            <a:r>
              <a:rPr lang="en-ZA" dirty="0"/>
              <a:t>if the pipe has no data and also no writer, the reader returns 0 </a:t>
            </a:r>
          </a:p>
          <a:p>
            <a:pPr lvl="2"/>
            <a:r>
              <a:rPr lang="en-ZA" dirty="0"/>
              <a:t>the reader can stop reading from the pipe</a:t>
            </a:r>
          </a:p>
          <a:p>
            <a:r>
              <a:rPr lang="en-ZA" dirty="0"/>
              <a:t>Writing to a pipe, </a:t>
            </a:r>
          </a:p>
          <a:p>
            <a:pPr lvl="1"/>
            <a:r>
              <a:rPr lang="en-ZA" dirty="0"/>
              <a:t>if the pipe has room, it writes as much as it needs to or until the pipe is full</a:t>
            </a:r>
          </a:p>
          <a:p>
            <a:pPr lvl="1"/>
            <a:r>
              <a:rPr lang="en-ZA" dirty="0"/>
              <a:t>if the pipe has no room but still has readers, the writer waits for room </a:t>
            </a:r>
          </a:p>
          <a:p>
            <a:pPr lvl="2"/>
            <a:r>
              <a:rPr lang="en-ZA" dirty="0"/>
              <a:t>when a writer writes data to a pipe, it wakes up the waiting readers, allowing them to continue </a:t>
            </a:r>
          </a:p>
          <a:p>
            <a:pPr lvl="1"/>
            <a:r>
              <a:rPr lang="en-ZA" dirty="0"/>
              <a:t>if a pipe has no more readers, the writer must detect this as a broken pipe error and aborts</a:t>
            </a:r>
            <a:endParaRPr lang="en-LS" dirty="0"/>
          </a:p>
        </p:txBody>
      </p:sp>
    </p:spTree>
    <p:extLst>
      <p:ext uri="{BB962C8B-B14F-4D97-AF65-F5344CB8AC3E}">
        <p14:creationId xmlns:p14="http://schemas.microsoft.com/office/powerpoint/2010/main" val="18803457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B879B-E4BC-4F91-8040-C214DD80B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Implementation of Pipes in MTX</a:t>
            </a:r>
            <a:endParaRPr lang="en-L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EF7BF-F086-4CC8-A608-A73E4B0A4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06070"/>
            <a:ext cx="8596668" cy="5351929"/>
          </a:xfrm>
        </p:spPr>
        <p:txBody>
          <a:bodyPr>
            <a:normAutofit fontScale="77500" lnSpcReduction="20000"/>
          </a:bodyPr>
          <a:lstStyle/>
          <a:p>
            <a:pPr>
              <a:buFont typeface="+mj-lt"/>
              <a:buAutoNum type="arabicPeriod"/>
            </a:pPr>
            <a:r>
              <a:rPr lang="en-ZA" dirty="0"/>
              <a:t>First, a process creates a pipe by the </a:t>
            </a:r>
            <a:r>
              <a:rPr lang="en-ZA" i="1" dirty="0" err="1"/>
              <a:t>syscall</a:t>
            </a:r>
            <a:r>
              <a:rPr lang="en-ZA" dirty="0"/>
              <a:t> </a:t>
            </a:r>
            <a:r>
              <a:rPr lang="en-ZA" dirty="0">
                <a:latin typeface="CourierNewPSMT2"/>
              </a:rPr>
              <a:t>pipe(pd[2])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latin typeface="CourierNewPSMT2"/>
              </a:rPr>
              <a:t>		typedef struct pipe{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latin typeface="CourierNewPSMT2"/>
              </a:rPr>
              <a:t>			char </a:t>
            </a:r>
            <a:r>
              <a:rPr lang="en-GB" sz="1800" b="0" i="0" u="none" strike="noStrike" baseline="0" dirty="0" err="1">
                <a:latin typeface="CourierNewPSMT2"/>
              </a:rPr>
              <a:t>buf</a:t>
            </a:r>
            <a:r>
              <a:rPr lang="en-GB" sz="1800" b="0" i="0" u="none" strike="noStrike" baseline="0" dirty="0">
                <a:latin typeface="CourierNewPSMT2"/>
              </a:rPr>
              <a:t>[PSIZE]; 	// circular data buffer</a:t>
            </a:r>
          </a:p>
          <a:p>
            <a:pPr marL="0" indent="0" algn="l">
              <a:buNone/>
            </a:pPr>
            <a:r>
              <a:rPr lang="en-ZA" sz="1800" b="0" i="0" u="none" strike="noStrike" baseline="0" dirty="0">
                <a:latin typeface="CourierNewPSMT2"/>
              </a:rPr>
              <a:t>			int head, tail; 	// circular </a:t>
            </a:r>
            <a:r>
              <a:rPr lang="en-ZA" sz="1800" b="0" i="0" u="none" strike="noStrike" baseline="0" dirty="0" err="1">
                <a:latin typeface="CourierNewPSMT2"/>
              </a:rPr>
              <a:t>buf</a:t>
            </a:r>
            <a:r>
              <a:rPr lang="en-ZA" sz="1800" b="0" i="0" u="none" strike="noStrike" baseline="0" dirty="0">
                <a:latin typeface="CourierNewPSMT2"/>
              </a:rPr>
              <a:t> index</a:t>
            </a:r>
          </a:p>
          <a:p>
            <a:pPr marL="0" indent="0" algn="l">
              <a:buNone/>
            </a:pPr>
            <a:r>
              <a:rPr lang="en-ZA" sz="1800" b="0" i="0" u="none" strike="noStrike" baseline="0" dirty="0">
                <a:latin typeface="CourierNewPSMT2"/>
              </a:rPr>
              <a:t>			int data, room; 	// number of data &amp; room in pipe</a:t>
            </a:r>
          </a:p>
          <a:p>
            <a:pPr marL="0" indent="0" algn="l">
              <a:buNone/>
            </a:pPr>
            <a:r>
              <a:rPr lang="en-ZA" sz="1800" b="0" i="0" u="none" strike="noStrike" baseline="0" dirty="0">
                <a:latin typeface="CourierNewPSMT2"/>
              </a:rPr>
              <a:t>			int </a:t>
            </a:r>
            <a:r>
              <a:rPr lang="en-ZA" sz="1800" b="0" i="0" u="none" strike="noStrike" baseline="0" dirty="0" err="1">
                <a:latin typeface="CourierNewPSMT2"/>
              </a:rPr>
              <a:t>nreader</a:t>
            </a:r>
            <a:r>
              <a:rPr lang="en-ZA" sz="1800" b="0" i="0" u="none" strike="noStrike" baseline="0" dirty="0">
                <a:latin typeface="CourierNewPSMT2"/>
              </a:rPr>
              <a:t>, </a:t>
            </a:r>
            <a:r>
              <a:rPr lang="en-ZA" sz="1800" b="0" i="0" u="none" strike="noStrike" baseline="0" dirty="0" err="1">
                <a:latin typeface="CourierNewPSMT2"/>
              </a:rPr>
              <a:t>nwriter</a:t>
            </a:r>
            <a:r>
              <a:rPr lang="en-ZA" sz="1800" b="0" i="0" u="none" strike="noStrike" baseline="0" dirty="0">
                <a:latin typeface="CourierNewPSMT2"/>
              </a:rPr>
              <a:t>; // number of readers, writers on pipe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latin typeface="CourierNewPSMT2"/>
              </a:rPr>
              <a:t>		}PIPE;</a:t>
            </a:r>
            <a:endParaRPr lang="en-GB" dirty="0"/>
          </a:p>
          <a:p>
            <a:pPr lvl="1"/>
            <a:r>
              <a:rPr lang="en-ZA" dirty="0"/>
              <a:t>A PIPE object has a read end and a write end </a:t>
            </a:r>
          </a:p>
          <a:p>
            <a:pPr lvl="2"/>
            <a:r>
              <a:rPr lang="en-ZA" dirty="0"/>
              <a:t>Each end is represented by an Open File Table (OFT) object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latin typeface="CourierNewPSMT2"/>
              </a:rPr>
              <a:t>		typedef struct oft{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latin typeface="CourierNewPSMT2"/>
              </a:rPr>
              <a:t>			int mode; 		// READ_PIPE|WRITE_PIPE</a:t>
            </a:r>
          </a:p>
          <a:p>
            <a:pPr marL="0" indent="0" algn="l">
              <a:buNone/>
            </a:pPr>
            <a:r>
              <a:rPr lang="en-ZA" sz="1800" b="0" i="0" u="none" strike="noStrike" baseline="0" dirty="0">
                <a:latin typeface="CourierNewPSMT2"/>
              </a:rPr>
              <a:t>			int </a:t>
            </a:r>
            <a:r>
              <a:rPr lang="en-ZA" sz="1800" b="0" i="0" u="none" strike="noStrike" baseline="0" dirty="0" err="1">
                <a:latin typeface="CourierNewPSMT2"/>
              </a:rPr>
              <a:t>refCount</a:t>
            </a:r>
            <a:r>
              <a:rPr lang="en-ZA" sz="1800" b="0" i="0" u="none" strike="noStrike" baseline="0" dirty="0">
                <a:latin typeface="CourierNewPSMT2"/>
              </a:rPr>
              <a:t>; 	// number of PROCs using this pipe end</a:t>
            </a:r>
          </a:p>
          <a:p>
            <a:pPr marL="0" indent="0" algn="l">
              <a:buNone/>
            </a:pPr>
            <a:r>
              <a:rPr lang="en-ZA" sz="1800" b="0" i="0" u="none" strike="noStrike" baseline="0" dirty="0">
                <a:latin typeface="CourierNewPSMT2"/>
              </a:rPr>
              <a:t>			struct pipe *</a:t>
            </a:r>
            <a:r>
              <a:rPr lang="en-ZA" sz="1800" b="0" i="0" u="none" strike="noStrike" baseline="0" dirty="0" err="1">
                <a:latin typeface="CourierNewPSMT2"/>
              </a:rPr>
              <a:t>pipe_ptr</a:t>
            </a:r>
            <a:r>
              <a:rPr lang="en-ZA" sz="1800" b="0" i="0" u="none" strike="noStrike" baseline="0" dirty="0">
                <a:latin typeface="CourierNewPSMT2"/>
              </a:rPr>
              <a:t>; // pointer to the PIPE object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latin typeface="CourierNewPSMT2"/>
              </a:rPr>
              <a:t>		}OFT;</a:t>
            </a:r>
          </a:p>
          <a:p>
            <a:pPr lvl="1"/>
            <a:r>
              <a:rPr lang="en-ZA" dirty="0"/>
              <a:t>From a process point of view, it can access a PIPE object if it has pointers to the PIPE's OFTs </a:t>
            </a:r>
          </a:p>
          <a:p>
            <a:pPr lvl="2"/>
            <a:r>
              <a:rPr lang="en-ZA" dirty="0"/>
              <a:t>Thus, we add a field </a:t>
            </a:r>
            <a:r>
              <a:rPr lang="en-ZA" dirty="0">
                <a:latin typeface="CourierNewPSMT2"/>
              </a:rPr>
              <a:t>OFT *</a:t>
            </a:r>
            <a:r>
              <a:rPr lang="en-ZA" dirty="0" err="1">
                <a:latin typeface="CourierNewPSMT2"/>
              </a:rPr>
              <a:t>fd</a:t>
            </a:r>
            <a:r>
              <a:rPr lang="en-ZA" dirty="0">
                <a:latin typeface="CourierNewPSMT2"/>
              </a:rPr>
              <a:t>[NFD]</a:t>
            </a:r>
            <a:r>
              <a:rPr lang="en-ZA" dirty="0"/>
              <a:t> to every </a:t>
            </a:r>
            <a:r>
              <a:rPr lang="en-ZA" b="1" dirty="0"/>
              <a:t>PROC</a:t>
            </a:r>
            <a:r>
              <a:rPr lang="en-ZA" dirty="0"/>
              <a:t> structure</a:t>
            </a:r>
          </a:p>
          <a:p>
            <a:pPr lvl="1"/>
            <a:r>
              <a:rPr lang="en-ZA" dirty="0"/>
              <a:t>Each index of the </a:t>
            </a:r>
            <a:r>
              <a:rPr lang="en-ZA" dirty="0" err="1">
                <a:latin typeface="CourierNewPSMT2"/>
              </a:rPr>
              <a:t>fd</a:t>
            </a:r>
            <a:r>
              <a:rPr lang="en-ZA" dirty="0">
                <a:latin typeface="CourierNewPSMT2"/>
              </a:rPr>
              <a:t> [] </a:t>
            </a:r>
            <a:r>
              <a:rPr lang="en-ZA" dirty="0"/>
              <a:t>array is called a </a:t>
            </a:r>
            <a:r>
              <a:rPr lang="en-ZA" b="1" dirty="0"/>
              <a:t>file descriptor</a:t>
            </a:r>
            <a:r>
              <a:rPr lang="en-ZA" dirty="0"/>
              <a:t> </a:t>
            </a:r>
          </a:p>
          <a:p>
            <a:pPr lvl="2"/>
            <a:r>
              <a:rPr lang="en-ZA" dirty="0"/>
              <a:t>When a process opens a file, it uses a free entry in the </a:t>
            </a:r>
            <a:r>
              <a:rPr lang="en-ZA" dirty="0" err="1">
                <a:latin typeface="CourierNewPSMT2"/>
              </a:rPr>
              <a:t>fd</a:t>
            </a:r>
            <a:r>
              <a:rPr lang="en-ZA" dirty="0">
                <a:latin typeface="CourierNewPSMT2"/>
              </a:rPr>
              <a:t>[]</a:t>
            </a:r>
            <a:r>
              <a:rPr lang="en-ZA" dirty="0"/>
              <a:t> array to point at the OFT of the opened file</a:t>
            </a:r>
            <a:endParaRPr lang="en-LS" dirty="0"/>
          </a:p>
        </p:txBody>
      </p:sp>
    </p:spTree>
    <p:extLst>
      <p:ext uri="{BB962C8B-B14F-4D97-AF65-F5344CB8AC3E}">
        <p14:creationId xmlns:p14="http://schemas.microsoft.com/office/powerpoint/2010/main" val="2817684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EF7BF-F086-4CC8-A608-A73E4B0A4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896471"/>
            <a:ext cx="8596668" cy="5351929"/>
          </a:xfrm>
        </p:spPr>
        <p:txBody>
          <a:bodyPr>
            <a:normAutofit fontScale="85000" lnSpcReduction="10000"/>
          </a:bodyPr>
          <a:lstStyle/>
          <a:p>
            <a:pPr marL="0" indent="0" algn="l">
              <a:buNone/>
            </a:pPr>
            <a:r>
              <a:rPr lang="en-ZA" sz="1800" b="1" i="0" u="none" strike="noStrike" baseline="0" dirty="0">
                <a:latin typeface="CourierNewPS-BoldMT"/>
              </a:rPr>
              <a:t>/*------ Algorithm of pipe creation: pipe(int pd[2]) ----------*/ </a:t>
            </a:r>
          </a:p>
          <a:p>
            <a:pPr marL="0" indent="0" algn="l">
              <a:buNone/>
            </a:pPr>
            <a:r>
              <a:rPr lang="en-ZA" sz="1800" b="0" i="0" u="none" strike="noStrike" baseline="0" dirty="0">
                <a:latin typeface="CourierNewPSMT2"/>
              </a:rPr>
              <a:t>1. Add a file descriptor array, </a:t>
            </a:r>
            <a:r>
              <a:rPr lang="en-ZA" sz="1800" b="0" i="0" u="none" strike="noStrike" baseline="0" dirty="0" err="1">
                <a:latin typeface="CourierNewPSMT2"/>
              </a:rPr>
              <a:t>fd</a:t>
            </a:r>
            <a:r>
              <a:rPr lang="en-ZA" sz="1800" b="0" i="0" u="none" strike="noStrike" baseline="0" dirty="0">
                <a:latin typeface="CourierNewPSMT2"/>
              </a:rPr>
              <a:t>[NFD], to every PROC structure: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latin typeface="CourierNewPSMT2"/>
              </a:rPr>
              <a:t>	typedef struct proc{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latin typeface="CourierNewPSMT2"/>
              </a:rPr>
              <a:t>		// same as before</a:t>
            </a:r>
          </a:p>
          <a:p>
            <a:pPr marL="0" indent="0" algn="l">
              <a:buNone/>
            </a:pPr>
            <a:r>
              <a:rPr lang="en-ZA" sz="1800" b="0" i="0" u="none" strike="noStrike" baseline="0" dirty="0">
                <a:latin typeface="CourierNewPSMT2"/>
              </a:rPr>
              <a:t>		OFT *</a:t>
            </a:r>
            <a:r>
              <a:rPr lang="en-ZA" sz="1800" b="0" i="0" u="none" strike="noStrike" baseline="0" dirty="0" err="1">
                <a:latin typeface="CourierNewPSMT2"/>
              </a:rPr>
              <a:t>fd</a:t>
            </a:r>
            <a:r>
              <a:rPr lang="en-ZA" sz="1800" b="0" i="0" u="none" strike="noStrike" baseline="0" dirty="0">
                <a:latin typeface="CourierNewPSMT2"/>
              </a:rPr>
              <a:t>[NFD]; // opened file descriptors; copy on fork()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latin typeface="CourierNewPSMT2"/>
              </a:rPr>
              <a:t>		int </a:t>
            </a:r>
            <a:r>
              <a:rPr lang="en-GB" sz="1800" b="0" i="0" u="none" strike="noStrike" baseline="0" dirty="0" err="1">
                <a:latin typeface="CourierNewPSMT2"/>
              </a:rPr>
              <a:t>kstack</a:t>
            </a:r>
            <a:r>
              <a:rPr lang="en-GB" sz="1800" b="0" i="0" u="none" strike="noStrike" baseline="0" dirty="0">
                <a:latin typeface="CourierNewPSMT2"/>
              </a:rPr>
              <a:t>[SSIZE];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latin typeface="CourierNewPSMT2"/>
              </a:rPr>
              <a:t>	}PROC;</a:t>
            </a:r>
          </a:p>
          <a:p>
            <a:pPr marL="0" indent="0" algn="l">
              <a:buNone/>
            </a:pPr>
            <a:r>
              <a:rPr lang="en-ZA" sz="1800" b="0" i="0" u="none" strike="noStrike" baseline="0" dirty="0">
                <a:latin typeface="CourierNewPSMT2"/>
              </a:rPr>
              <a:t>2. Allocate a PIPE object. Initialize the PIPE object with</a:t>
            </a:r>
          </a:p>
          <a:p>
            <a:pPr marL="0" indent="0" algn="l">
              <a:buNone/>
            </a:pPr>
            <a:r>
              <a:rPr lang="en-ZA" sz="1800" b="0" i="0" u="none" strike="noStrike" baseline="0" dirty="0">
                <a:latin typeface="CourierNewPSMT2"/>
              </a:rPr>
              <a:t>	head=tail=0; data=0; room=PSIZE; </a:t>
            </a:r>
            <a:r>
              <a:rPr lang="en-ZA" sz="1800" b="0" i="0" u="none" strike="noStrike" baseline="0" dirty="0" err="1">
                <a:latin typeface="CourierNewPSMT2"/>
              </a:rPr>
              <a:t>nreaders</a:t>
            </a:r>
            <a:r>
              <a:rPr lang="en-ZA" sz="1800" b="0" i="0" u="none" strike="noStrike" baseline="0" dirty="0">
                <a:latin typeface="CourierNewPSMT2"/>
              </a:rPr>
              <a:t>=</a:t>
            </a:r>
            <a:r>
              <a:rPr lang="en-ZA" sz="1800" b="0" i="0" u="none" strike="noStrike" baseline="0" dirty="0" err="1">
                <a:latin typeface="CourierNewPSMT2"/>
              </a:rPr>
              <a:t>nwriters</a:t>
            </a:r>
            <a:r>
              <a:rPr lang="en-ZA" sz="1800" b="0" i="0" u="none" strike="noStrike" baseline="0" dirty="0">
                <a:latin typeface="CourierNewPSMT2"/>
              </a:rPr>
              <a:t>=1;</a:t>
            </a:r>
          </a:p>
          <a:p>
            <a:pPr marL="0" indent="0" algn="l">
              <a:buNone/>
            </a:pPr>
            <a:r>
              <a:rPr lang="en-ZA" sz="1800" b="0" i="0" u="none" strike="noStrike" baseline="0" dirty="0">
                <a:latin typeface="CourierNewPSMT2"/>
              </a:rPr>
              <a:t>3. Allocate 2 OFTs. Initialize the OFTs as</a:t>
            </a:r>
          </a:p>
          <a:p>
            <a:pPr marL="0" indent="0" algn="l">
              <a:buNone/>
            </a:pPr>
            <a:r>
              <a:rPr lang="en-ZA" sz="1800" b="0" i="0" u="none" strike="noStrike" baseline="0" dirty="0">
                <a:latin typeface="CourierNewPSMT2"/>
              </a:rPr>
              <a:t>	</a:t>
            </a:r>
            <a:r>
              <a:rPr lang="en-ZA" sz="1800" b="0" i="0" u="none" strike="noStrike" baseline="0" dirty="0" err="1">
                <a:latin typeface="CourierNewPSMT2"/>
              </a:rPr>
              <a:t>readOFT.mode</a:t>
            </a:r>
            <a:r>
              <a:rPr lang="en-ZA" sz="1800" b="0" i="0" u="none" strike="noStrike" baseline="0" dirty="0">
                <a:latin typeface="CourierNewPSMT2"/>
              </a:rPr>
              <a:t> = READ_PIPE; </a:t>
            </a:r>
            <a:r>
              <a:rPr lang="en-ZA" sz="1800" b="0" i="0" u="none" strike="noStrike" baseline="0" dirty="0" err="1">
                <a:latin typeface="CourierNewPSMT2"/>
              </a:rPr>
              <a:t>writeOFT.mode</a:t>
            </a:r>
            <a:r>
              <a:rPr lang="en-ZA" sz="1800" b="0" i="0" u="none" strike="noStrike" baseline="0" dirty="0">
                <a:latin typeface="CourierNewPSMT2"/>
              </a:rPr>
              <a:t> = WRITE_PIPE;</a:t>
            </a:r>
          </a:p>
          <a:p>
            <a:pPr marL="0" indent="0" algn="l">
              <a:buNone/>
            </a:pPr>
            <a:r>
              <a:rPr lang="en-ZA" sz="1800" b="0" i="0" u="none" strike="noStrike" baseline="0" dirty="0">
                <a:latin typeface="CourierNewPSMT2"/>
              </a:rPr>
              <a:t>	both OFT's </a:t>
            </a:r>
            <a:r>
              <a:rPr lang="en-ZA" sz="1800" b="0" i="0" u="none" strike="noStrike" baseline="0" dirty="0" err="1">
                <a:latin typeface="CourierNewPSMT2"/>
              </a:rPr>
              <a:t>refCount</a:t>
            </a:r>
            <a:r>
              <a:rPr lang="en-ZA" sz="1800" b="0" i="0" u="none" strike="noStrike" baseline="0" dirty="0">
                <a:latin typeface="CourierNewPSMT2"/>
              </a:rPr>
              <a:t>=1 and </a:t>
            </a:r>
            <a:r>
              <a:rPr lang="en-ZA" sz="1800" b="0" i="0" u="none" strike="noStrike" baseline="0" dirty="0" err="1">
                <a:latin typeface="CourierNewPSMT2"/>
              </a:rPr>
              <a:t>pipe_ptr</a:t>
            </a:r>
            <a:r>
              <a:rPr lang="en-ZA" sz="1800" b="0" i="0" u="none" strike="noStrike" baseline="0" dirty="0">
                <a:latin typeface="CourierNewPSMT2"/>
              </a:rPr>
              <a:t> points to the same PIPE object.</a:t>
            </a:r>
          </a:p>
          <a:p>
            <a:pPr marL="0" indent="0" algn="l">
              <a:buNone/>
            </a:pPr>
            <a:r>
              <a:rPr lang="en-ZA" sz="1800" b="0" i="0" u="none" strike="noStrike" baseline="0" dirty="0">
                <a:latin typeface="CourierNewPSMT2"/>
              </a:rPr>
              <a:t>4. Allocate 2 free entries in the </a:t>
            </a:r>
            <a:r>
              <a:rPr lang="en-ZA" sz="1800" b="0" i="0" u="none" strike="noStrike" baseline="0" dirty="0" err="1">
                <a:latin typeface="CourierNewPSMT2"/>
              </a:rPr>
              <a:t>PROC.fd</a:t>
            </a:r>
            <a:r>
              <a:rPr lang="en-ZA" sz="1800" b="0" i="0" u="none" strike="noStrike" baseline="0" dirty="0">
                <a:latin typeface="CourierNewPSMT2"/>
              </a:rPr>
              <a:t>[] </a:t>
            </a:r>
            <a:r>
              <a:rPr lang="en-ZA" sz="1800" b="0" i="0" u="none" strike="noStrike" baseline="0" dirty="0" err="1">
                <a:latin typeface="CourierNewPSMT2"/>
              </a:rPr>
              <a:t>array,e.g.fd</a:t>
            </a:r>
            <a:r>
              <a:rPr lang="en-ZA" sz="1800" b="0" i="0" u="none" strike="noStrike" baseline="0" dirty="0">
                <a:latin typeface="CourierNewPSMT2"/>
              </a:rPr>
              <a:t>[</a:t>
            </a:r>
            <a:r>
              <a:rPr lang="en-ZA" sz="1800" b="0" i="0" u="none" strike="noStrike" baseline="0" dirty="0" err="1">
                <a:latin typeface="CourierNewPSMT2"/>
              </a:rPr>
              <a:t>i</a:t>
            </a:r>
            <a:r>
              <a:rPr lang="en-ZA" sz="1800" b="0" i="0" u="none" strike="noStrike" baseline="0" dirty="0">
                <a:latin typeface="CourierNewPSMT2"/>
              </a:rPr>
              <a:t>] and </a:t>
            </a:r>
            <a:r>
              <a:rPr lang="en-ZA" sz="1800" b="0" i="0" u="none" strike="noStrike" baseline="0" dirty="0" err="1">
                <a:latin typeface="CourierNewPSMT2"/>
              </a:rPr>
              <a:t>fd</a:t>
            </a:r>
            <a:r>
              <a:rPr lang="en-ZA" sz="1800" b="0" i="0" u="none" strike="noStrike" baseline="0" dirty="0">
                <a:latin typeface="CourierNewPSMT2"/>
              </a:rPr>
              <a:t>[j].</a:t>
            </a:r>
          </a:p>
          <a:p>
            <a:pPr marL="0" indent="0" algn="l">
              <a:buNone/>
            </a:pPr>
            <a:r>
              <a:rPr lang="en-ZA" sz="1800" b="0" i="0" u="none" strike="noStrike" baseline="0" dirty="0">
                <a:latin typeface="CourierNewPSMT2"/>
              </a:rPr>
              <a:t>	Let </a:t>
            </a:r>
            <a:r>
              <a:rPr lang="en-ZA" sz="1800" b="0" i="0" u="none" strike="noStrike" baseline="0" dirty="0" err="1">
                <a:latin typeface="CourierNewPSMT2"/>
              </a:rPr>
              <a:t>fd</a:t>
            </a:r>
            <a:r>
              <a:rPr lang="en-ZA" sz="1800" b="0" i="0" u="none" strike="noStrike" baseline="0" dirty="0">
                <a:latin typeface="CourierNewPSMT2"/>
              </a:rPr>
              <a:t>[</a:t>
            </a:r>
            <a:r>
              <a:rPr lang="en-ZA" sz="1800" b="0" i="0" u="none" strike="noStrike" baseline="0" dirty="0" err="1">
                <a:latin typeface="CourierNewPSMT2"/>
              </a:rPr>
              <a:t>i</a:t>
            </a:r>
            <a:r>
              <a:rPr lang="en-ZA" sz="1800" b="0" i="0" u="none" strike="noStrike" baseline="0" dirty="0">
                <a:latin typeface="CourierNewPSMT2"/>
              </a:rPr>
              <a:t>] point to </a:t>
            </a:r>
            <a:r>
              <a:rPr lang="en-ZA" sz="1800" b="0" i="0" u="none" strike="noStrike" baseline="0" dirty="0" err="1">
                <a:latin typeface="CourierNewPSMT2"/>
              </a:rPr>
              <a:t>readOFT</a:t>
            </a:r>
            <a:r>
              <a:rPr lang="en-ZA" sz="1800" b="0" i="0" u="none" strike="noStrike" baseline="0" dirty="0">
                <a:latin typeface="CourierNewPSMT2"/>
              </a:rPr>
              <a:t> and </a:t>
            </a:r>
            <a:r>
              <a:rPr lang="en-ZA" sz="1800" b="0" i="0" u="none" strike="noStrike" baseline="0" dirty="0" err="1">
                <a:latin typeface="CourierNewPSMT2"/>
              </a:rPr>
              <a:t>fd</a:t>
            </a:r>
            <a:r>
              <a:rPr lang="en-ZA" sz="1800" b="0" i="0" u="none" strike="noStrike" baseline="0" dirty="0">
                <a:latin typeface="CourierNewPSMT2"/>
              </a:rPr>
              <a:t>[j] point to </a:t>
            </a:r>
            <a:r>
              <a:rPr lang="en-ZA" sz="1800" b="0" i="0" u="none" strike="noStrike" baseline="0" dirty="0" err="1">
                <a:latin typeface="CourierNewPSMT2"/>
              </a:rPr>
              <a:t>writeOFT</a:t>
            </a:r>
            <a:r>
              <a:rPr lang="en-ZA" sz="1800" b="0" i="0" u="none" strike="noStrike" baseline="0" dirty="0">
                <a:latin typeface="CourierNewPSMT2"/>
              </a:rPr>
              <a:t>.</a:t>
            </a:r>
          </a:p>
          <a:p>
            <a:pPr marL="0" indent="0" algn="l">
              <a:buNone/>
            </a:pPr>
            <a:r>
              <a:rPr lang="en-ZA" sz="1800" b="0" i="0" u="none" strike="noStrike" baseline="0" dirty="0">
                <a:latin typeface="CourierNewPSMT2"/>
              </a:rPr>
              <a:t>5. write index </a:t>
            </a:r>
            <a:r>
              <a:rPr lang="en-ZA" sz="1800" b="0" i="0" u="none" strike="noStrike" baseline="0" dirty="0" err="1">
                <a:latin typeface="CourierNewPSMT2"/>
              </a:rPr>
              <a:t>i</a:t>
            </a:r>
            <a:r>
              <a:rPr lang="en-ZA" sz="1800" b="0" i="0" u="none" strike="noStrike" baseline="0" dirty="0">
                <a:latin typeface="CourierNewPSMT2"/>
              </a:rPr>
              <a:t> to pd[0] and index j to pd[1]; both are in </a:t>
            </a:r>
            <a:r>
              <a:rPr lang="en-ZA" sz="1800" b="0" i="0" u="none" strike="noStrike" baseline="0" dirty="0" err="1">
                <a:latin typeface="CourierNewPSMT2"/>
              </a:rPr>
              <a:t>Uspace</a:t>
            </a:r>
            <a:r>
              <a:rPr lang="en-ZA" sz="1800" b="0" i="0" u="none" strike="noStrike" baseline="0" dirty="0">
                <a:latin typeface="CourierNewPSMT2"/>
              </a:rPr>
              <a:t>.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latin typeface="CourierNewPSMT2"/>
              </a:rPr>
              <a:t>6. return 0 for OK;</a:t>
            </a:r>
            <a:endParaRPr lang="en-LS" dirty="0"/>
          </a:p>
        </p:txBody>
      </p:sp>
    </p:spTree>
    <p:extLst>
      <p:ext uri="{BB962C8B-B14F-4D97-AF65-F5344CB8AC3E}">
        <p14:creationId xmlns:p14="http://schemas.microsoft.com/office/powerpoint/2010/main" val="32435551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B879B-E4BC-4F91-8040-C214DD80B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Implementation of Pipes in MTX</a:t>
            </a:r>
            <a:endParaRPr lang="en-L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EF7BF-F086-4CC8-A608-A73E4B0A4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06070"/>
            <a:ext cx="8596668" cy="5351929"/>
          </a:xfrm>
        </p:spPr>
        <p:txBody>
          <a:bodyPr>
            <a:normAutofit fontScale="85000" lnSpcReduction="20000"/>
          </a:bodyPr>
          <a:lstStyle/>
          <a:p>
            <a:pPr>
              <a:buFont typeface="+mj-lt"/>
              <a:buAutoNum type="arabicPeriod" startAt="2"/>
            </a:pPr>
            <a:r>
              <a:rPr lang="en-ZA" dirty="0"/>
              <a:t>After creating a pipe, the process must fork a child to share the pipe </a:t>
            </a:r>
          </a:p>
          <a:p>
            <a:pPr lvl="1"/>
            <a:r>
              <a:rPr lang="en-ZA" dirty="0"/>
              <a:t>Modify </a:t>
            </a:r>
            <a:r>
              <a:rPr lang="en-ZA" dirty="0">
                <a:latin typeface="CourierNewPSMT2"/>
              </a:rPr>
              <a:t>fork()</a:t>
            </a:r>
            <a:r>
              <a:rPr lang="en-ZA" dirty="0"/>
              <a:t> to let the child process inherit all the opened </a:t>
            </a:r>
            <a:r>
              <a:rPr lang="en-ZA" i="1" dirty="0"/>
              <a:t>file descriptors </a:t>
            </a:r>
            <a:r>
              <a:rPr lang="en-ZA" dirty="0"/>
              <a:t>of the parent</a:t>
            </a:r>
          </a:p>
          <a:p>
            <a:pPr marL="0" indent="0" algn="l">
              <a:buNone/>
            </a:pPr>
            <a:r>
              <a:rPr lang="en-ZA" sz="1800" b="0" i="0" u="none" strike="noStrike" baseline="0" dirty="0">
                <a:latin typeface="CourierNewPSMT2"/>
              </a:rPr>
              <a:t>	</a:t>
            </a:r>
          </a:p>
          <a:p>
            <a:pPr marL="0" indent="0" algn="l">
              <a:buNone/>
            </a:pPr>
            <a:r>
              <a:rPr lang="en-ZA" sz="1800" b="0" i="0" u="none" strike="noStrike" baseline="0" dirty="0">
                <a:latin typeface="CourierNewPSMT2"/>
              </a:rPr>
              <a:t>	int fork() { 	// same modifications to </a:t>
            </a:r>
            <a:r>
              <a:rPr lang="en-ZA" sz="1800" b="0" i="0" u="none" strike="noStrike" baseline="0" dirty="0" err="1">
                <a:latin typeface="CourierNewPSMT2"/>
              </a:rPr>
              <a:t>vfork</a:t>
            </a:r>
            <a:r>
              <a:rPr lang="en-ZA" sz="1800" b="0" i="0" u="none" strike="noStrike" baseline="0" dirty="0">
                <a:latin typeface="CourierNewPSMT2"/>
              </a:rPr>
              <a:t>():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latin typeface="CourierNewPSMT2"/>
              </a:rPr>
              <a:t>	</a:t>
            </a:r>
            <a:r>
              <a:rPr lang="en-ZA" sz="1800" b="0" i="0" u="none" strike="noStrike" baseline="0" dirty="0">
                <a:latin typeface="CourierNewPSMT2"/>
              </a:rPr>
              <a:t>	// same as before but Add copy opened file descriptors</a:t>
            </a:r>
          </a:p>
          <a:p>
            <a:pPr marL="0" indent="0" algn="l">
              <a:buNone/>
            </a:pPr>
            <a:r>
              <a:rPr lang="en-ZA" sz="1800" b="0" i="0" u="none" strike="noStrike" baseline="0" dirty="0">
                <a:latin typeface="CourierNewPSMT2"/>
              </a:rPr>
              <a:t>		// assume PROC *p points at the child PROC</a:t>
            </a:r>
          </a:p>
          <a:p>
            <a:pPr marL="0" indent="0" algn="l">
              <a:buNone/>
            </a:pPr>
            <a:r>
              <a:rPr lang="nn-NO" sz="1800" b="0" i="0" u="none" strike="noStrike" baseline="0" dirty="0">
                <a:latin typeface="CourierNewPSMT2"/>
              </a:rPr>
              <a:t>		for (int i=0; i&lt;NFD; i++){</a:t>
            </a:r>
          </a:p>
          <a:p>
            <a:pPr marL="0" indent="0" algn="l">
              <a:buNone/>
            </a:pPr>
            <a:r>
              <a:rPr lang="en-ZA" sz="1800" b="0" i="0" u="none" strike="noStrike" baseline="0" dirty="0">
                <a:latin typeface="CourierNewPSMT2"/>
              </a:rPr>
              <a:t>			if (running-&gt;</a:t>
            </a:r>
            <a:r>
              <a:rPr lang="en-ZA" sz="1800" b="0" i="0" u="none" strike="noStrike" baseline="0" dirty="0" err="1">
                <a:latin typeface="CourierNewPSMT2"/>
              </a:rPr>
              <a:t>fd</a:t>
            </a:r>
            <a:r>
              <a:rPr lang="en-ZA" sz="1800" b="0" i="0" u="none" strike="noStrike" baseline="0" dirty="0">
                <a:latin typeface="CourierNewPSMT2"/>
              </a:rPr>
              <a:t>[</a:t>
            </a:r>
            <a:r>
              <a:rPr lang="en-ZA" sz="1800" b="0" i="0" u="none" strike="noStrike" baseline="0" dirty="0" err="1">
                <a:latin typeface="CourierNewPSMT2"/>
              </a:rPr>
              <a:t>i</a:t>
            </a:r>
            <a:r>
              <a:rPr lang="en-ZA" sz="1800" b="0" i="0" u="none" strike="noStrike" baseline="0" dirty="0">
                <a:latin typeface="CourierNewPSMT2"/>
              </a:rPr>
              <a:t>]){ // copy only non-zero entries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latin typeface="CourierNewPSMT2"/>
              </a:rPr>
              <a:t>				p-&gt;</a:t>
            </a:r>
            <a:r>
              <a:rPr lang="en-GB" sz="1800" b="0" i="0" u="none" strike="noStrike" baseline="0" dirty="0" err="1">
                <a:latin typeface="CourierNewPSMT2"/>
              </a:rPr>
              <a:t>fd</a:t>
            </a:r>
            <a:r>
              <a:rPr lang="en-GB" sz="1800" b="0" i="0" u="none" strike="noStrike" baseline="0" dirty="0">
                <a:latin typeface="CourierNewPSMT2"/>
              </a:rPr>
              <a:t>[</a:t>
            </a:r>
            <a:r>
              <a:rPr lang="en-GB" sz="1800" b="0" i="0" u="none" strike="noStrike" baseline="0" dirty="0" err="1">
                <a:latin typeface="CourierNewPSMT2"/>
              </a:rPr>
              <a:t>i</a:t>
            </a:r>
            <a:r>
              <a:rPr lang="en-GB" sz="1800" b="0" i="0" u="none" strike="noStrike" baseline="0" dirty="0">
                <a:latin typeface="CourierNewPSMT2"/>
              </a:rPr>
              <a:t>] = running-&gt;</a:t>
            </a:r>
            <a:r>
              <a:rPr lang="en-GB" sz="1800" b="0" i="0" u="none" strike="noStrike" baseline="0" dirty="0" err="1">
                <a:latin typeface="CourierNewPSMT2"/>
              </a:rPr>
              <a:t>fd</a:t>
            </a:r>
            <a:r>
              <a:rPr lang="en-GB" sz="1800" b="0" i="0" u="none" strike="noStrike" baseline="0" dirty="0">
                <a:latin typeface="CourierNewPSMT2"/>
              </a:rPr>
              <a:t>[</a:t>
            </a:r>
            <a:r>
              <a:rPr lang="en-GB" sz="1800" b="0" i="0" u="none" strike="noStrike" baseline="0" dirty="0" err="1">
                <a:latin typeface="CourierNewPSMT2"/>
              </a:rPr>
              <a:t>i</a:t>
            </a:r>
            <a:r>
              <a:rPr lang="en-GB" sz="1800" b="0" i="0" u="none" strike="noStrike" baseline="0" dirty="0">
                <a:latin typeface="CourierNewPSMT2"/>
              </a:rPr>
              <a:t>];</a:t>
            </a:r>
          </a:p>
          <a:p>
            <a:pPr marL="0" indent="0" algn="l">
              <a:buNone/>
            </a:pPr>
            <a:r>
              <a:rPr lang="en-ZA" sz="1800" b="0" i="0" u="none" strike="noStrike" baseline="0" dirty="0">
                <a:latin typeface="CourierNewPSMT2"/>
              </a:rPr>
              <a:t>				p-&gt;</a:t>
            </a:r>
            <a:r>
              <a:rPr lang="en-ZA" sz="1800" b="0" i="0" u="none" strike="noStrike" baseline="0" dirty="0" err="1">
                <a:latin typeface="CourierNewPSMT2"/>
              </a:rPr>
              <a:t>fd</a:t>
            </a:r>
            <a:r>
              <a:rPr lang="en-ZA" sz="1800" b="0" i="0" u="none" strike="noStrike" baseline="0" dirty="0">
                <a:latin typeface="CourierNewPSMT2"/>
              </a:rPr>
              <a:t>[</a:t>
            </a:r>
            <a:r>
              <a:rPr lang="en-ZA" sz="1800" b="0" i="0" u="none" strike="noStrike" baseline="0" dirty="0" err="1">
                <a:latin typeface="CourierNewPSMT2"/>
              </a:rPr>
              <a:t>i</a:t>
            </a:r>
            <a:r>
              <a:rPr lang="en-ZA" sz="1800" b="0" i="0" u="none" strike="noStrike" baseline="0" dirty="0">
                <a:latin typeface="CourierNewPSMT2"/>
              </a:rPr>
              <a:t>]-&gt;</a:t>
            </a:r>
            <a:r>
              <a:rPr lang="en-ZA" sz="1800" b="0" i="0" u="none" strike="noStrike" baseline="0" dirty="0" err="1">
                <a:latin typeface="CourierNewPSMT2"/>
              </a:rPr>
              <a:t>refCount</a:t>
            </a:r>
            <a:r>
              <a:rPr lang="en-ZA" sz="1800" b="0" i="0" u="none" strike="noStrike" baseline="0" dirty="0">
                <a:latin typeface="CourierNewPSMT2"/>
              </a:rPr>
              <a:t>++; // </a:t>
            </a:r>
            <a:r>
              <a:rPr lang="en-ZA" sz="1800" b="0" i="0" u="none" strike="noStrike" baseline="0" dirty="0" err="1">
                <a:latin typeface="CourierNewPSMT2"/>
              </a:rPr>
              <a:t>inc</a:t>
            </a:r>
            <a:r>
              <a:rPr lang="en-ZA" sz="1800" b="0" i="0" u="none" strike="noStrike" baseline="0" dirty="0">
                <a:latin typeface="CourierNewPSMT2"/>
              </a:rPr>
              <a:t> </a:t>
            </a:r>
            <a:r>
              <a:rPr lang="en-ZA" sz="1800" b="0" i="0" u="none" strike="noStrike" baseline="0" dirty="0" err="1">
                <a:latin typeface="CourierNewPSMT2"/>
              </a:rPr>
              <a:t>OFT.refCount</a:t>
            </a:r>
            <a:r>
              <a:rPr lang="en-ZA" sz="1800" b="0" i="0" u="none" strike="noStrike" baseline="0" dirty="0">
                <a:latin typeface="CourierNewPSMT2"/>
              </a:rPr>
              <a:t> by 1</a:t>
            </a:r>
          </a:p>
          <a:p>
            <a:pPr marL="0" indent="0" algn="l">
              <a:buNone/>
            </a:pPr>
            <a:r>
              <a:rPr lang="en-ZA" sz="1800" b="0" i="0" u="none" strike="noStrike" baseline="0" dirty="0">
                <a:latin typeface="CourierNewPSMT2"/>
              </a:rPr>
              <a:t>				if (p-&gt;</a:t>
            </a:r>
            <a:r>
              <a:rPr lang="en-ZA" sz="1800" b="0" i="0" u="none" strike="noStrike" baseline="0" dirty="0" err="1">
                <a:latin typeface="CourierNewPSMT2"/>
              </a:rPr>
              <a:t>fd</a:t>
            </a:r>
            <a:r>
              <a:rPr lang="en-ZA" sz="1800" b="0" i="0" u="none" strike="noStrike" baseline="0" dirty="0">
                <a:latin typeface="CourierNewPSMT2"/>
              </a:rPr>
              <a:t>[</a:t>
            </a:r>
            <a:r>
              <a:rPr lang="en-ZA" sz="1800" b="0" i="0" u="none" strike="noStrike" baseline="0" dirty="0" err="1">
                <a:latin typeface="CourierNewPSMT2"/>
              </a:rPr>
              <a:t>i</a:t>
            </a:r>
            <a:r>
              <a:rPr lang="en-ZA" sz="1800" b="0" i="0" u="none" strike="noStrike" baseline="0" dirty="0">
                <a:latin typeface="CourierNewPSMT2"/>
              </a:rPr>
              <a:t>]-&gt;mode == READ_PIPE)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latin typeface="CourierNewPSMT2"/>
              </a:rPr>
              <a:t>					p-&gt;</a:t>
            </a:r>
            <a:r>
              <a:rPr lang="en-GB" sz="1800" b="0" i="0" u="none" strike="noStrike" baseline="0" dirty="0" err="1">
                <a:latin typeface="CourierNewPSMT2"/>
              </a:rPr>
              <a:t>fd</a:t>
            </a:r>
            <a:r>
              <a:rPr lang="en-GB" sz="1800" b="0" i="0" u="none" strike="noStrike" baseline="0" dirty="0">
                <a:latin typeface="CourierNewPSMT2"/>
              </a:rPr>
              <a:t>[</a:t>
            </a:r>
            <a:r>
              <a:rPr lang="en-GB" sz="1800" b="0" i="0" u="none" strike="noStrike" baseline="0" dirty="0" err="1">
                <a:latin typeface="CourierNewPSMT2"/>
              </a:rPr>
              <a:t>i</a:t>
            </a:r>
            <a:r>
              <a:rPr lang="en-GB" sz="1800" b="0" i="0" u="none" strike="noStrike" baseline="0" dirty="0">
                <a:latin typeface="CourierNewPSMT2"/>
              </a:rPr>
              <a:t>]-&gt;</a:t>
            </a:r>
            <a:r>
              <a:rPr lang="en-GB" sz="1800" b="0" i="0" u="none" strike="noStrike" baseline="0" dirty="0" err="1">
                <a:latin typeface="CourierNewPSMT2"/>
              </a:rPr>
              <a:t>pipe_ptr</a:t>
            </a:r>
            <a:r>
              <a:rPr lang="en-GB" sz="1800" b="0" i="0" u="none" strike="noStrike" baseline="0" dirty="0">
                <a:latin typeface="CourierNewPSMT2"/>
              </a:rPr>
              <a:t>-&gt;</a:t>
            </a:r>
            <a:r>
              <a:rPr lang="en-GB" sz="1800" b="0" i="0" u="none" strike="noStrike" baseline="0" dirty="0" err="1">
                <a:latin typeface="CourierNewPSMT2"/>
              </a:rPr>
              <a:t>nreader</a:t>
            </a:r>
            <a:r>
              <a:rPr lang="en-GB" sz="1800" b="0" i="0" u="none" strike="noStrike" baseline="0" dirty="0">
                <a:latin typeface="CourierNewPSMT2"/>
              </a:rPr>
              <a:t>++; // </a:t>
            </a:r>
            <a:r>
              <a:rPr lang="en-GB" sz="1800" b="0" i="0" u="none" strike="noStrike" baseline="0" dirty="0" err="1">
                <a:latin typeface="CourierNewPSMT2"/>
              </a:rPr>
              <a:t>pipe.nreader</a:t>
            </a:r>
            <a:r>
              <a:rPr lang="en-GB" sz="1800" b="0" i="0" u="none" strike="noStrike" baseline="0" dirty="0">
                <a:latin typeface="CourierNewPSMT2"/>
              </a:rPr>
              <a:t>++</a:t>
            </a:r>
          </a:p>
          <a:p>
            <a:pPr marL="0" indent="0" algn="l">
              <a:buNone/>
            </a:pPr>
            <a:r>
              <a:rPr lang="en-ZA" sz="1800" b="0" i="0" u="none" strike="noStrike" baseline="0" dirty="0">
                <a:latin typeface="CourierNewPSMT2"/>
              </a:rPr>
              <a:t>				if (p-&gt;</a:t>
            </a:r>
            <a:r>
              <a:rPr lang="en-ZA" sz="1800" b="0" i="0" u="none" strike="noStrike" baseline="0" dirty="0" err="1">
                <a:latin typeface="CourierNewPSMT2"/>
              </a:rPr>
              <a:t>fd</a:t>
            </a:r>
            <a:r>
              <a:rPr lang="en-ZA" sz="1800" b="0" i="0" u="none" strike="noStrike" baseline="0" dirty="0">
                <a:latin typeface="CourierNewPSMT2"/>
              </a:rPr>
              <a:t>[</a:t>
            </a:r>
            <a:r>
              <a:rPr lang="en-ZA" sz="1800" b="0" i="0" u="none" strike="noStrike" baseline="0" dirty="0" err="1">
                <a:latin typeface="CourierNewPSMT2"/>
              </a:rPr>
              <a:t>i</a:t>
            </a:r>
            <a:r>
              <a:rPr lang="en-ZA" sz="1800" b="0" i="0" u="none" strike="noStrike" baseline="0" dirty="0">
                <a:latin typeface="CourierNewPSMT2"/>
              </a:rPr>
              <a:t>]-&gt;mode == WRITE_PIPE)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latin typeface="CourierNewPSMT2"/>
              </a:rPr>
              <a:t>					p-&gt;</a:t>
            </a:r>
            <a:r>
              <a:rPr lang="en-GB" sz="1800" b="0" i="0" u="none" strike="noStrike" baseline="0" dirty="0" err="1">
                <a:latin typeface="CourierNewPSMT2"/>
              </a:rPr>
              <a:t>fd</a:t>
            </a:r>
            <a:r>
              <a:rPr lang="en-GB" sz="1800" b="0" i="0" u="none" strike="noStrike" baseline="0" dirty="0">
                <a:latin typeface="CourierNewPSMT2"/>
              </a:rPr>
              <a:t>[</a:t>
            </a:r>
            <a:r>
              <a:rPr lang="en-GB" sz="1800" b="0" i="0" u="none" strike="noStrike" baseline="0" dirty="0" err="1">
                <a:latin typeface="CourierNewPSMT2"/>
              </a:rPr>
              <a:t>i</a:t>
            </a:r>
            <a:r>
              <a:rPr lang="en-GB" sz="1800" b="0" i="0" u="none" strike="noStrike" baseline="0" dirty="0">
                <a:latin typeface="CourierNewPSMT2"/>
              </a:rPr>
              <a:t>]-&gt;</a:t>
            </a:r>
            <a:r>
              <a:rPr lang="en-GB" sz="1800" b="0" i="0" u="none" strike="noStrike" baseline="0" dirty="0" err="1">
                <a:latin typeface="CourierNewPSMT2"/>
              </a:rPr>
              <a:t>pipe_ptr</a:t>
            </a:r>
            <a:r>
              <a:rPr lang="en-GB" sz="1800" b="0" i="0" u="none" strike="noStrike" baseline="0" dirty="0">
                <a:latin typeface="CourierNewPSMT2"/>
              </a:rPr>
              <a:t>-&gt;</a:t>
            </a:r>
            <a:r>
              <a:rPr lang="en-GB" sz="1800" b="0" i="0" u="none" strike="noStrike" baseline="0" dirty="0" err="1">
                <a:latin typeface="CourierNewPSMT2"/>
              </a:rPr>
              <a:t>nwriter</a:t>
            </a:r>
            <a:r>
              <a:rPr lang="en-GB" sz="1800" b="0" i="0" u="none" strike="noStrike" baseline="0" dirty="0">
                <a:latin typeface="CourierNewPSMT2"/>
              </a:rPr>
              <a:t>++; // </a:t>
            </a:r>
            <a:r>
              <a:rPr lang="en-GB" sz="1800" b="0" i="0" u="none" strike="noStrike" baseline="0" dirty="0" err="1">
                <a:latin typeface="CourierNewPSMT2"/>
              </a:rPr>
              <a:t>pipe.nwriter</a:t>
            </a:r>
            <a:r>
              <a:rPr lang="en-GB" sz="1800" b="0" i="0" u="none" strike="noStrike" baseline="0" dirty="0">
                <a:latin typeface="CourierNewPSMT2"/>
              </a:rPr>
              <a:t>++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latin typeface="CourierNewPSMT2"/>
              </a:rPr>
              <a:t>			</a:t>
            </a:r>
            <a:r>
              <a:rPr lang="en-LS" sz="1800" b="0" i="0" u="none" strike="noStrike" baseline="0" dirty="0">
                <a:latin typeface="CourierNewPSMT2"/>
              </a:rPr>
              <a:t>}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latin typeface="CourierNewPSMT2"/>
              </a:rPr>
              <a:t>		</a:t>
            </a:r>
            <a:r>
              <a:rPr lang="en-LS" sz="1800" b="0" i="0" u="none" strike="noStrike" baseline="0" dirty="0">
                <a:latin typeface="CourierNewPSMT2"/>
              </a:rPr>
              <a:t>}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latin typeface="CourierNewPSMT2"/>
              </a:rPr>
              <a:t>	</a:t>
            </a:r>
            <a:r>
              <a:rPr lang="en-LS" sz="1800" b="0" i="0" u="none" strike="noStrike" baseline="0" dirty="0">
                <a:latin typeface="CourierNewPSMT2"/>
              </a:rPr>
              <a:t>}</a:t>
            </a:r>
            <a:endParaRPr lang="en-LS" dirty="0"/>
          </a:p>
        </p:txBody>
      </p:sp>
    </p:spTree>
    <p:extLst>
      <p:ext uri="{BB962C8B-B14F-4D97-AF65-F5344CB8AC3E}">
        <p14:creationId xmlns:p14="http://schemas.microsoft.com/office/powerpoint/2010/main" val="6689361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B879B-E4BC-4F91-8040-C214DD80B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Implementation of Pipes in MTX</a:t>
            </a:r>
            <a:endParaRPr lang="en-L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EF7BF-F086-4CC8-A608-A73E4B0A4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06070"/>
            <a:ext cx="8596668" cy="5351929"/>
          </a:xfrm>
        </p:spPr>
        <p:txBody>
          <a:bodyPr>
            <a:normAutofit fontScale="85000" lnSpcReduction="20000"/>
          </a:bodyPr>
          <a:lstStyle/>
          <a:p>
            <a:pPr>
              <a:buFont typeface="+mj-lt"/>
              <a:buAutoNum type="arabicPeriod" startAt="3"/>
            </a:pPr>
            <a:r>
              <a:rPr lang="en-ZA" dirty="0"/>
              <a:t>After fork, both processes have 2 file descriptors; </a:t>
            </a:r>
          </a:p>
          <a:p>
            <a:pPr lvl="1"/>
            <a:r>
              <a:rPr lang="en-ZA" dirty="0"/>
              <a:t>pd[0] for reading from the pipe and pd[1] for writing to the pipe </a:t>
            </a:r>
          </a:p>
          <a:p>
            <a:pPr lvl="2"/>
            <a:r>
              <a:rPr lang="en-ZA" dirty="0"/>
              <a:t>Since a process can only be either a reader or a writer but not both, each process must close an unwanted pipe end</a:t>
            </a:r>
            <a:endParaRPr lang="en-GB" dirty="0"/>
          </a:p>
          <a:p>
            <a:pPr marL="0" indent="0" algn="l">
              <a:buNone/>
            </a:pPr>
            <a:r>
              <a:rPr lang="en-ZA" sz="1800" b="1" i="0" u="none" strike="noStrike" baseline="0" dirty="0">
                <a:latin typeface="TimesNewRomanPS-BoldMT3"/>
              </a:rPr>
              <a:t>	/*---------------------- Algorithm of </a:t>
            </a:r>
            <a:r>
              <a:rPr lang="en-ZA" sz="1800" b="1" i="0" u="none" strike="noStrike" baseline="0" dirty="0" err="1">
                <a:latin typeface="TimesNewRomanPS-BoldMT3"/>
              </a:rPr>
              <a:t>close_pipe</a:t>
            </a:r>
            <a:r>
              <a:rPr lang="en-ZA" sz="1800" b="1" i="0" u="none" strike="noStrike" baseline="0" dirty="0">
                <a:latin typeface="TimesNewRomanPS-BoldMT3"/>
              </a:rPr>
              <a:t> : close(int </a:t>
            </a:r>
            <a:r>
              <a:rPr lang="en-ZA" sz="1800" b="1" i="0" u="none" strike="noStrike" baseline="0" dirty="0" err="1">
                <a:latin typeface="TimesNewRomanPS-BoldMT3"/>
              </a:rPr>
              <a:t>fd</a:t>
            </a:r>
            <a:r>
              <a:rPr lang="en-ZA" sz="1800" b="1" i="0" u="none" strike="noStrike" baseline="0" dirty="0">
                <a:latin typeface="TimesNewRomanPS-BoldMT3"/>
              </a:rPr>
              <a:t>) -----------------------*/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n-ZA" sz="1800" b="0" i="0" u="none" strike="noStrike" baseline="0" dirty="0">
                <a:latin typeface="CourierNewPSMT2"/>
              </a:rPr>
              <a:t>	1.  Validate </a:t>
            </a:r>
            <a:r>
              <a:rPr lang="en-ZA" sz="1800" b="0" i="0" u="none" strike="noStrike" baseline="0" dirty="0" err="1">
                <a:latin typeface="CourierNewPSMT2"/>
              </a:rPr>
              <a:t>fd</a:t>
            </a:r>
            <a:r>
              <a:rPr lang="en-ZA" sz="1800" b="0" i="0" u="none" strike="noStrike" baseline="0" dirty="0">
                <a:latin typeface="CourierNewPSMT2"/>
              </a:rPr>
              <a:t> to make sure it's a valid opened file descriptor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n-ZA" sz="1800" b="0" i="0" u="none" strike="noStrike" baseline="0" dirty="0">
                <a:latin typeface="CourierNewPSMT2"/>
              </a:rPr>
              <a:t>	2.  Follow </a:t>
            </a:r>
            <a:r>
              <a:rPr lang="en-ZA" sz="1800" b="0" i="0" u="none" strike="noStrike" baseline="0" dirty="0" err="1">
                <a:latin typeface="CourierNewPSMT2"/>
              </a:rPr>
              <a:t>PROC.fd</a:t>
            </a:r>
            <a:r>
              <a:rPr lang="en-ZA" sz="1800" b="0" i="0" u="none" strike="noStrike" baseline="0" dirty="0">
                <a:latin typeface="CourierNewPSMT2"/>
              </a:rPr>
              <a:t>[</a:t>
            </a:r>
            <a:r>
              <a:rPr lang="en-ZA" sz="1800" b="0" i="0" u="none" strike="noStrike" baseline="0" dirty="0" err="1">
                <a:latin typeface="CourierNewPSMT2"/>
              </a:rPr>
              <a:t>fd</a:t>
            </a:r>
            <a:r>
              <a:rPr lang="en-ZA" sz="1800" b="0" i="0" u="none" strike="noStrike" baseline="0" dirty="0">
                <a:latin typeface="CourierNewPSMT2"/>
              </a:rPr>
              <a:t>] to its OFT. Decrement </a:t>
            </a:r>
            <a:r>
              <a:rPr lang="en-ZA" sz="1800" b="0" i="0" u="none" strike="noStrike" baseline="0" dirty="0" err="1">
                <a:latin typeface="CourierNewPSMT2"/>
              </a:rPr>
              <a:t>OFT.refCount</a:t>
            </a:r>
            <a:r>
              <a:rPr lang="en-ZA" sz="1800" b="0" i="0" u="none" strike="noStrike" baseline="0" dirty="0">
                <a:latin typeface="CourierNewPSMT2"/>
              </a:rPr>
              <a:t> by 1;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n-GB" sz="1800" b="0" i="0" u="none" strike="noStrike" baseline="0" dirty="0">
                <a:latin typeface="CourierNewPSMT2"/>
              </a:rPr>
              <a:t>	3.  if (WRITE_PIPE){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n-GB" sz="1800" b="0" i="0" u="none" strike="noStrike" baseline="0" dirty="0">
                <a:latin typeface="CourierNewPSMT2"/>
              </a:rPr>
              <a:t>			decrement </a:t>
            </a:r>
            <a:r>
              <a:rPr lang="en-GB" sz="1800" b="0" i="0" u="none" strike="noStrike" baseline="0" dirty="0" err="1">
                <a:latin typeface="CourierNewPSMT2"/>
              </a:rPr>
              <a:t>nwriter</a:t>
            </a:r>
            <a:r>
              <a:rPr lang="en-GB" sz="1800" b="0" i="0" u="none" strike="noStrike" baseline="0" dirty="0">
                <a:latin typeface="CourierNewPSMT2"/>
              </a:rPr>
              <a:t> by 1;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n-ZA" sz="1800" b="0" i="0" u="none" strike="noStrike" baseline="0" dirty="0">
                <a:latin typeface="CourierNewPSMT2"/>
              </a:rPr>
              <a:t>			if (</a:t>
            </a:r>
            <a:r>
              <a:rPr lang="en-ZA" sz="1800" b="0" i="0" u="none" strike="noStrike" baseline="0" dirty="0" err="1">
                <a:latin typeface="CourierNewPSMT2"/>
              </a:rPr>
              <a:t>nwriter</a:t>
            </a:r>
            <a:r>
              <a:rPr lang="en-ZA" sz="1800" b="0" i="0" u="none" strike="noStrike" baseline="0" dirty="0">
                <a:latin typeface="CourierNewPSMT2"/>
              </a:rPr>
              <a:t>==0){ // last writer on pipe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n-GB" sz="1800" b="0" i="0" u="none" strike="noStrike" baseline="0" dirty="0">
                <a:latin typeface="CourierNewPSMT2"/>
              </a:rPr>
              <a:t>				if (</a:t>
            </a:r>
            <a:r>
              <a:rPr lang="en-GB" sz="1800" b="0" i="0" u="none" strike="noStrike" baseline="0" dirty="0" err="1">
                <a:latin typeface="CourierNewPSMT2"/>
              </a:rPr>
              <a:t>nreader</a:t>
            </a:r>
            <a:r>
              <a:rPr lang="en-GB" sz="1800" b="0" i="0" u="none" strike="noStrike" baseline="0" dirty="0">
                <a:latin typeface="CourierNewPSMT2"/>
              </a:rPr>
              <a:t>==0)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n-GB" sz="1800" b="0" i="0" u="none" strike="noStrike" baseline="0" dirty="0">
                <a:latin typeface="CourierNewPSMT2"/>
              </a:rPr>
              <a:t>					deallocate PIPE;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n-GB" sz="1800" b="0" i="0" u="none" strike="noStrike" baseline="0" dirty="0">
                <a:latin typeface="CourierNewPSMT2"/>
              </a:rPr>
              <a:t>				deallocate </a:t>
            </a:r>
            <a:r>
              <a:rPr lang="en-GB" sz="1800" b="0" i="0" u="none" strike="noStrike" baseline="0" dirty="0" err="1">
                <a:latin typeface="CourierNewPSMT2"/>
              </a:rPr>
              <a:t>writeOFT</a:t>
            </a:r>
            <a:r>
              <a:rPr lang="en-GB" sz="1800" b="0" i="0" u="none" strike="noStrike" baseline="0" dirty="0">
                <a:latin typeface="CourierNewPSMT2"/>
              </a:rPr>
              <a:t>;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n-GB" sz="1800" b="0" i="0" u="none" strike="noStrike" baseline="0" dirty="0">
                <a:latin typeface="CourierNewPSMT2"/>
              </a:rPr>
              <a:t>			</a:t>
            </a:r>
            <a:r>
              <a:rPr lang="en-LS" sz="1800" b="0" i="0" u="none" strike="noStrike" baseline="0" dirty="0">
                <a:latin typeface="CourierNewPSMT2"/>
              </a:rPr>
              <a:t>}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n-ZA" sz="1800" b="0" i="0" u="none" strike="noStrike" baseline="0" dirty="0">
                <a:latin typeface="CourierNewPSMT2"/>
              </a:rPr>
              <a:t>			wakeup(data); // wakeup ALL blocked readers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n-GB" sz="1800" b="0" i="0" u="none" strike="noStrike" baseline="0" dirty="0">
                <a:latin typeface="CourierNewPSMT2"/>
              </a:rPr>
              <a:t>		</a:t>
            </a:r>
            <a:r>
              <a:rPr lang="en-LS" sz="1800" b="0" i="0" u="none" strike="noStrike" baseline="0" dirty="0">
                <a:latin typeface="CourierNewPSMT2"/>
              </a:rPr>
              <a:t>}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n-GB" sz="1800" b="0" i="0" u="none" strike="noStrike" baseline="0" dirty="0">
                <a:latin typeface="CourierNewPSMT2"/>
              </a:rPr>
              <a:t>	4.  else{ // READ_PIPE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n-GB" sz="1800" b="0" i="0" u="none" strike="noStrike" baseline="0" dirty="0">
                <a:latin typeface="CourierNewPSMT2"/>
              </a:rPr>
              <a:t>			decrement </a:t>
            </a:r>
            <a:r>
              <a:rPr lang="en-GB" sz="1800" b="0" i="0" u="none" strike="noStrike" baseline="0" dirty="0" err="1">
                <a:latin typeface="CourierNewPSMT2"/>
              </a:rPr>
              <a:t>nreader</a:t>
            </a:r>
            <a:r>
              <a:rPr lang="en-GB" sz="1800" b="0" i="0" u="none" strike="noStrike" baseline="0" dirty="0">
                <a:latin typeface="CourierNewPSMT2"/>
              </a:rPr>
              <a:t> by 1;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n-ZA" sz="1800" b="0" i="0" u="none" strike="noStrike" baseline="0" dirty="0">
                <a:latin typeface="CourierNewPSMT2"/>
              </a:rPr>
              <a:t>			if (</a:t>
            </a:r>
            <a:r>
              <a:rPr lang="en-ZA" sz="1800" b="0" i="0" u="none" strike="noStrike" baseline="0" dirty="0" err="1">
                <a:latin typeface="CourierNewPSMT2"/>
              </a:rPr>
              <a:t>nreader</a:t>
            </a:r>
            <a:r>
              <a:rPr lang="en-ZA" sz="1800" b="0" i="0" u="none" strike="noStrike" baseline="0" dirty="0">
                <a:latin typeface="CourierNewPSMT2"/>
              </a:rPr>
              <a:t>==0){ // last reader on pipe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n-GB" sz="1800" b="0" i="0" u="none" strike="noStrike" baseline="0" dirty="0">
                <a:latin typeface="CourierNewPSMT2"/>
              </a:rPr>
              <a:t>				if (</a:t>
            </a:r>
            <a:r>
              <a:rPr lang="en-GB" sz="1800" b="0" i="0" u="none" strike="noStrike" baseline="0" dirty="0" err="1">
                <a:latin typeface="CourierNewPSMT2"/>
              </a:rPr>
              <a:t>nwriter</a:t>
            </a:r>
            <a:r>
              <a:rPr lang="en-GB" sz="1800" b="0" i="0" u="none" strike="noStrike" baseline="0" dirty="0">
                <a:latin typeface="CourierNewPSMT2"/>
              </a:rPr>
              <a:t>==0)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n-GB" sz="1800" b="0" i="0" u="none" strike="noStrike" baseline="0" dirty="0">
                <a:latin typeface="CourierNewPSMT2"/>
              </a:rPr>
              <a:t>					deallocate PIPE;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n-GB" sz="1800" b="0" i="0" u="none" strike="noStrike" baseline="0" dirty="0">
                <a:latin typeface="CourierNewPSMT2"/>
              </a:rPr>
              <a:t>				deallocate </a:t>
            </a:r>
            <a:r>
              <a:rPr lang="en-GB" sz="1800" b="0" i="0" u="none" strike="noStrike" baseline="0" dirty="0" err="1">
                <a:latin typeface="CourierNewPSMT2"/>
              </a:rPr>
              <a:t>readOFT</a:t>
            </a:r>
            <a:r>
              <a:rPr lang="en-GB" sz="1800" b="0" i="0" u="none" strike="noStrike" baseline="0" dirty="0">
                <a:latin typeface="CourierNewPSMT2"/>
              </a:rPr>
              <a:t>;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n-GB" sz="1800" b="0" i="0" u="none" strike="noStrike" baseline="0" dirty="0">
                <a:latin typeface="CourierNewPSMT2"/>
              </a:rPr>
              <a:t>			</a:t>
            </a:r>
            <a:r>
              <a:rPr lang="en-LS" sz="1800" b="0" i="0" u="none" strike="noStrike" baseline="0" dirty="0">
                <a:latin typeface="CourierNewPSMT2"/>
              </a:rPr>
              <a:t>}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n-ZA" sz="1800" b="0" i="0" u="none" strike="noStrike" baseline="0" dirty="0">
                <a:latin typeface="CourierNewPSMT2"/>
              </a:rPr>
              <a:t>			wakeup(room); // wakeup ALL blocked writers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n-GB" sz="1800" b="0" i="0" u="none" strike="noStrike" baseline="0" dirty="0">
                <a:latin typeface="CourierNewPSMT2"/>
              </a:rPr>
              <a:t>		</a:t>
            </a:r>
            <a:r>
              <a:rPr lang="en-LS" sz="1800" b="0" i="0" u="none" strike="noStrike" baseline="0" dirty="0">
                <a:latin typeface="CourierNewPSMT2"/>
              </a:rPr>
              <a:t>}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n-ZA" sz="1800" b="0" i="0" u="none" strike="noStrike" baseline="0" dirty="0">
                <a:latin typeface="CourierNewPSMT2"/>
              </a:rPr>
              <a:t>	5.  Clear caller's </a:t>
            </a:r>
            <a:r>
              <a:rPr lang="en-ZA" sz="1800" b="0" i="0" u="none" strike="noStrike" baseline="0" dirty="0" err="1">
                <a:latin typeface="CourierNewPSMT2"/>
              </a:rPr>
              <a:t>fd</a:t>
            </a:r>
            <a:r>
              <a:rPr lang="en-ZA" sz="1800" b="0" i="0" u="none" strike="noStrike" baseline="0" dirty="0">
                <a:latin typeface="CourierNewPSMT2"/>
              </a:rPr>
              <a:t>[</a:t>
            </a:r>
            <a:r>
              <a:rPr lang="en-ZA" sz="1800" b="0" i="0" u="none" strike="noStrike" baseline="0" dirty="0" err="1">
                <a:latin typeface="CourierNewPSMT2"/>
              </a:rPr>
              <a:t>fd</a:t>
            </a:r>
            <a:r>
              <a:rPr lang="en-ZA" sz="1800" b="0" i="0" u="none" strike="noStrike" baseline="0" dirty="0">
                <a:latin typeface="CourierNewPSMT2"/>
              </a:rPr>
              <a:t>] to 0; return OK;</a:t>
            </a:r>
            <a:endParaRPr lang="en-LS" dirty="0"/>
          </a:p>
        </p:txBody>
      </p:sp>
    </p:spTree>
    <p:extLst>
      <p:ext uri="{BB962C8B-B14F-4D97-AF65-F5344CB8AC3E}">
        <p14:creationId xmlns:p14="http://schemas.microsoft.com/office/powerpoint/2010/main" val="27199034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B879B-E4BC-4F91-8040-C214DD80B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Implementation of Pipes in MTX</a:t>
            </a:r>
            <a:endParaRPr lang="en-L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EF7BF-F086-4CC8-A608-A73E4B0A4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06070"/>
            <a:ext cx="8596668" cy="5351929"/>
          </a:xfrm>
        </p:spPr>
        <p:txBody>
          <a:bodyPr>
            <a:normAutofit fontScale="85000" lnSpcReduction="20000"/>
          </a:bodyPr>
          <a:lstStyle/>
          <a:p>
            <a:pPr>
              <a:buFont typeface="+mj-lt"/>
              <a:buAutoNum type="arabicPeriod" startAt="4"/>
            </a:pPr>
            <a:r>
              <a:rPr lang="en-ZA" dirty="0"/>
              <a:t>The read and write pipe algorithms</a:t>
            </a:r>
          </a:p>
          <a:p>
            <a:pPr marL="0" indent="0">
              <a:buNone/>
            </a:pPr>
            <a:r>
              <a:rPr lang="en-GB" dirty="0">
                <a:latin typeface="CourierNewPSMT2"/>
              </a:rPr>
              <a:t>	</a:t>
            </a:r>
            <a:r>
              <a:rPr lang="en-GB" b="1" dirty="0">
                <a:latin typeface="CourierNewPSMT2"/>
              </a:rPr>
              <a:t>/*---------------- Algorithm of </a:t>
            </a:r>
            <a:r>
              <a:rPr lang="en-GB" b="1" dirty="0" err="1">
                <a:latin typeface="CourierNewPSMT2"/>
              </a:rPr>
              <a:t>read_pipe</a:t>
            </a:r>
            <a:r>
              <a:rPr lang="en-GB" b="1" dirty="0">
                <a:latin typeface="CourierNewPSMT2"/>
              </a:rPr>
              <a:t> ----------------*/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latin typeface="CourierNewPSMT2"/>
              </a:rPr>
              <a:t>	int </a:t>
            </a:r>
            <a:r>
              <a:rPr lang="en-GB" dirty="0" err="1">
                <a:latin typeface="CourierNewPSMT2"/>
              </a:rPr>
              <a:t>read_pipe</a:t>
            </a:r>
            <a:r>
              <a:rPr lang="en-GB" dirty="0">
                <a:latin typeface="CourierNewPSMT2"/>
              </a:rPr>
              <a:t>(int </a:t>
            </a:r>
            <a:r>
              <a:rPr lang="en-GB" dirty="0" err="1">
                <a:latin typeface="CourierNewPSMT2"/>
              </a:rPr>
              <a:t>fd</a:t>
            </a:r>
            <a:r>
              <a:rPr lang="en-GB" dirty="0">
                <a:latin typeface="CourierNewPSMT2"/>
              </a:rPr>
              <a:t>, char *</a:t>
            </a:r>
            <a:r>
              <a:rPr lang="en-GB" dirty="0" err="1">
                <a:latin typeface="CourierNewPSMT2"/>
              </a:rPr>
              <a:t>buf</a:t>
            </a:r>
            <a:r>
              <a:rPr lang="en-GB" dirty="0">
                <a:latin typeface="CourierNewPSMT2"/>
              </a:rPr>
              <a:t>, int n)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latin typeface="CourierNewPSMT2"/>
              </a:rPr>
              <a:t>		int r = 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latin typeface="CourierNewPSMT2"/>
              </a:rPr>
              <a:t>		if(n&lt;=0)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latin typeface="CourierNewPSMT2"/>
              </a:rPr>
              <a:t>			return 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latin typeface="CourierNewPSMT2"/>
              </a:rPr>
              <a:t>		validate </a:t>
            </a:r>
            <a:r>
              <a:rPr lang="en-GB" dirty="0" err="1">
                <a:latin typeface="CourierNewPSMT2"/>
              </a:rPr>
              <a:t>fd</a:t>
            </a:r>
            <a:r>
              <a:rPr lang="en-GB" dirty="0">
                <a:latin typeface="CourierNewPSMT2"/>
              </a:rPr>
              <a:t>; from </a:t>
            </a:r>
            <a:r>
              <a:rPr lang="en-GB" dirty="0" err="1">
                <a:latin typeface="CourierNewPSMT2"/>
              </a:rPr>
              <a:t>fd</a:t>
            </a:r>
            <a:r>
              <a:rPr lang="en-GB" dirty="0">
                <a:latin typeface="CourierNewPSMT2"/>
              </a:rPr>
              <a:t>, get OFT and pipe pointer p;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latin typeface="CourierNewPSMT2"/>
              </a:rPr>
              <a:t>		while(n)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latin typeface="CourierNewPSMT2"/>
              </a:rPr>
              <a:t>			while(data)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latin typeface="CourierNewPSMT2"/>
              </a:rPr>
              <a:t>				read a byte from pipe to </a:t>
            </a:r>
            <a:r>
              <a:rPr lang="en-GB" dirty="0" err="1">
                <a:latin typeface="CourierNewPSMT2"/>
              </a:rPr>
              <a:t>buf</a:t>
            </a:r>
            <a:r>
              <a:rPr lang="en-GB" dirty="0">
                <a:latin typeface="CourierNewPSMT2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latin typeface="CourierNewPSMT2"/>
              </a:rPr>
              <a:t>				n--; r++; data--; room++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latin typeface="CourierNewPSMT2"/>
              </a:rPr>
              <a:t>				if(n==0)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latin typeface="CourierNewPSMT2"/>
              </a:rPr>
              <a:t>					break;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latin typeface="CourierNewPSMT2"/>
              </a:rPr>
              <a:t>			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latin typeface="CourierNewPSMT2"/>
              </a:rPr>
              <a:t>			if(r) {		// has read some data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latin typeface="CourierNewPSMT2"/>
              </a:rPr>
              <a:t>				wakeup(room);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latin typeface="CourierNewPSMT2"/>
              </a:rPr>
              <a:t>				return r;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latin typeface="CourierNewPSMT2"/>
              </a:rPr>
              <a:t>			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latin typeface="CourierNewPSMT2"/>
              </a:rPr>
              <a:t>			// pipe has no data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latin typeface="CourierNewPSMT2"/>
              </a:rPr>
              <a:t>			if (</a:t>
            </a:r>
            <a:r>
              <a:rPr lang="en-GB" dirty="0" err="1">
                <a:latin typeface="CourierNewPSMT2"/>
              </a:rPr>
              <a:t>nwrite</a:t>
            </a:r>
            <a:r>
              <a:rPr lang="en-GB" dirty="0">
                <a:latin typeface="CourierNewPSMT2"/>
              </a:rPr>
              <a:t>) {		// if pipe still has writer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latin typeface="CourierNewPSMT2"/>
              </a:rPr>
              <a:t>				wakeup(room);	//wakeup ALL writers, if any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latin typeface="CourierNewPSMT2"/>
              </a:rPr>
              <a:t>				sleep(data);	// sleep for data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latin typeface="CourierNewPSMT2"/>
              </a:rPr>
              <a:t>				continue;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latin typeface="CourierNewPSMT2"/>
              </a:rPr>
              <a:t>			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latin typeface="CourierNewPSMT2"/>
              </a:rPr>
              <a:t>			// pipe has no writer and no data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latin typeface="CourierNewPSMT2"/>
              </a:rPr>
              <a:t>			return 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latin typeface="CourierNewPSMT2"/>
              </a:rPr>
              <a:t>		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latin typeface="CourierNewPSMT2"/>
              </a:rPr>
              <a:t>	}</a:t>
            </a:r>
          </a:p>
          <a:p>
            <a:pPr marL="0" indent="0">
              <a:buNone/>
            </a:pPr>
            <a:endParaRPr lang="en-LS" dirty="0"/>
          </a:p>
        </p:txBody>
      </p:sp>
    </p:spTree>
    <p:extLst>
      <p:ext uri="{BB962C8B-B14F-4D97-AF65-F5344CB8AC3E}">
        <p14:creationId xmlns:p14="http://schemas.microsoft.com/office/powerpoint/2010/main" val="35544800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EF7BF-F086-4CC8-A608-A73E4B0A4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06070"/>
            <a:ext cx="8596668" cy="535192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>
                <a:latin typeface="CourierNewPSMT2"/>
              </a:rPr>
              <a:t>	</a:t>
            </a:r>
            <a:r>
              <a:rPr lang="en-GB" b="1" dirty="0">
                <a:latin typeface="CourierNewPSMT2"/>
              </a:rPr>
              <a:t>/*---------------- Algorithm of </a:t>
            </a:r>
            <a:r>
              <a:rPr lang="en-GB" b="1" dirty="0" err="1">
                <a:latin typeface="CourierNewPSMT2"/>
              </a:rPr>
              <a:t>write_pipe</a:t>
            </a:r>
            <a:r>
              <a:rPr lang="en-GB" b="1" dirty="0">
                <a:latin typeface="CourierNewPSMT2"/>
              </a:rPr>
              <a:t> ----------------*/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latin typeface="CourierNewPSMT2"/>
              </a:rPr>
              <a:t>	int </a:t>
            </a:r>
            <a:r>
              <a:rPr lang="en-GB" dirty="0" err="1">
                <a:latin typeface="CourierNewPSMT2"/>
              </a:rPr>
              <a:t>write_pipe</a:t>
            </a:r>
            <a:r>
              <a:rPr lang="en-GB" dirty="0">
                <a:latin typeface="CourierNewPSMT2"/>
              </a:rPr>
              <a:t>(int </a:t>
            </a:r>
            <a:r>
              <a:rPr lang="en-GB" dirty="0" err="1">
                <a:latin typeface="CourierNewPSMT2"/>
              </a:rPr>
              <a:t>fd</a:t>
            </a:r>
            <a:r>
              <a:rPr lang="en-GB" dirty="0">
                <a:latin typeface="CourierNewPSMT2"/>
              </a:rPr>
              <a:t>, char *</a:t>
            </a:r>
            <a:r>
              <a:rPr lang="en-GB" dirty="0" err="1">
                <a:latin typeface="CourierNewPSMT2"/>
              </a:rPr>
              <a:t>buf</a:t>
            </a:r>
            <a:r>
              <a:rPr lang="en-GB" dirty="0">
                <a:latin typeface="CourierNewPSMT2"/>
              </a:rPr>
              <a:t>, int n)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latin typeface="CourierNewPSMT2"/>
              </a:rPr>
              <a:t>		int r = 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latin typeface="CourierNewPSMT2"/>
              </a:rPr>
              <a:t>		if(n&lt;=0)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latin typeface="CourierNewPSMT2"/>
              </a:rPr>
              <a:t>			return 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latin typeface="CourierNewPSMT2"/>
              </a:rPr>
              <a:t>		validate </a:t>
            </a:r>
            <a:r>
              <a:rPr lang="en-GB" dirty="0" err="1">
                <a:latin typeface="CourierNewPSMT2"/>
              </a:rPr>
              <a:t>fd</a:t>
            </a:r>
            <a:r>
              <a:rPr lang="en-GB" dirty="0">
                <a:latin typeface="CourierNewPSMT2"/>
              </a:rPr>
              <a:t>; from </a:t>
            </a:r>
            <a:r>
              <a:rPr lang="en-GB" dirty="0" err="1">
                <a:latin typeface="CourierNewPSMT2"/>
              </a:rPr>
              <a:t>fd</a:t>
            </a:r>
            <a:r>
              <a:rPr lang="en-GB" dirty="0">
                <a:latin typeface="CourierNewPSMT2"/>
              </a:rPr>
              <a:t>, get OFT and pipe pointer p;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latin typeface="CourierNewPSMT2"/>
              </a:rPr>
              <a:t>		while(n)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latin typeface="CourierNewPSMT2"/>
              </a:rPr>
              <a:t>			if(!</a:t>
            </a:r>
            <a:r>
              <a:rPr lang="en-GB" dirty="0" err="1">
                <a:latin typeface="CourierNewPSMT2"/>
              </a:rPr>
              <a:t>nreader</a:t>
            </a:r>
            <a:r>
              <a:rPr lang="en-GB" dirty="0">
                <a:latin typeface="CourierNewPSMT2"/>
              </a:rPr>
              <a:t>) 				// no more readers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latin typeface="CourierNewPSMT2"/>
              </a:rPr>
              <a:t>				</a:t>
            </a:r>
            <a:r>
              <a:rPr lang="en-GB" dirty="0" err="1">
                <a:latin typeface="CourierNewPSMT2"/>
              </a:rPr>
              <a:t>kexit</a:t>
            </a:r>
            <a:r>
              <a:rPr lang="en-GB" dirty="0">
                <a:latin typeface="CourierNewPSMT2"/>
              </a:rPr>
              <a:t>(BROKEN_PIPE);	// BROKEN_PIPE error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latin typeface="CourierNewPSMT2"/>
              </a:rPr>
              <a:t>			while(room) {		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latin typeface="CourierNewPSMT2"/>
              </a:rPr>
              <a:t>				write a byte from </a:t>
            </a:r>
            <a:r>
              <a:rPr lang="en-GB" dirty="0" err="1">
                <a:latin typeface="CourierNewPSMT2"/>
              </a:rPr>
              <a:t>buf</a:t>
            </a:r>
            <a:r>
              <a:rPr lang="en-GB" dirty="0">
                <a:latin typeface="CourierNewPSMT2"/>
              </a:rPr>
              <a:t> to pipe;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latin typeface="CourierNewPSMT2"/>
              </a:rPr>
              <a:t>				r++; data++; room--; n--;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latin typeface="CourierNewPSMT2"/>
              </a:rPr>
              <a:t>				if(n==0)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latin typeface="CourierNewPSMT2"/>
              </a:rPr>
              <a:t>					break;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latin typeface="CourierNewPSMT2"/>
              </a:rPr>
              <a:t>			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latin typeface="CourierNewPSMT2"/>
              </a:rPr>
              <a:t>			wakeup(data);		// wakeup ALL readers if any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latin typeface="CourierNewPSMT2"/>
              </a:rPr>
              <a:t>			if (n==0) 		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latin typeface="CourierNewPSMT2"/>
              </a:rPr>
              <a:t>				return r;		// finished writing n bytes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latin typeface="CourierNewPSMT2"/>
              </a:rPr>
              <a:t>			// still has data to write but pipe has no room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latin typeface="CourierNewPSMT2"/>
              </a:rPr>
              <a:t>			sleep(room);		// sleep for room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latin typeface="CourierNewPSMT2"/>
              </a:rPr>
              <a:t>		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>
                <a:latin typeface="CourierNewPSMT2"/>
              </a:rPr>
              <a:t>	}</a:t>
            </a:r>
          </a:p>
          <a:p>
            <a:pPr marL="0" indent="0">
              <a:buNone/>
            </a:pPr>
            <a:endParaRPr lang="en-LS" dirty="0"/>
          </a:p>
        </p:txBody>
      </p:sp>
    </p:spTree>
    <p:extLst>
      <p:ext uri="{BB962C8B-B14F-4D97-AF65-F5344CB8AC3E}">
        <p14:creationId xmlns:p14="http://schemas.microsoft.com/office/powerpoint/2010/main" val="7440499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B879B-E4BC-4F91-8040-C214DD80B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Implementation of Pipes in MTX</a:t>
            </a:r>
            <a:endParaRPr lang="en-L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EF7BF-F086-4CC8-A608-A73E4B0A4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06070"/>
            <a:ext cx="8596668" cy="5351929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 startAt="5"/>
            </a:pPr>
            <a:r>
              <a:rPr lang="en-ZA" dirty="0"/>
              <a:t>On process’ exit, closes all opened file descriptors </a:t>
            </a:r>
          </a:p>
          <a:p>
            <a:pPr lvl="1"/>
            <a:r>
              <a:rPr lang="en-ZA" dirty="0"/>
              <a:t>So we modify </a:t>
            </a:r>
            <a:r>
              <a:rPr lang="en-ZA" dirty="0" err="1">
                <a:latin typeface="CourierNewPSMT2"/>
              </a:rPr>
              <a:t>kexit</a:t>
            </a:r>
            <a:r>
              <a:rPr lang="en-ZA" dirty="0">
                <a:latin typeface="CourierNewPSMT2"/>
              </a:rPr>
              <a:t>()</a:t>
            </a:r>
            <a:r>
              <a:rPr lang="en-ZA" dirty="0"/>
              <a:t> in the kernel to close opened pipe file descriptors</a:t>
            </a:r>
          </a:p>
          <a:p>
            <a:r>
              <a:rPr lang="en-ZA" dirty="0"/>
              <a:t>To support pipe operations, we add pipe related </a:t>
            </a:r>
            <a:r>
              <a:rPr lang="en-ZA" dirty="0" err="1"/>
              <a:t>syscalls</a:t>
            </a:r>
            <a:r>
              <a:rPr lang="en-ZA" dirty="0"/>
              <a:t> to the our kernel</a:t>
            </a:r>
          </a:p>
          <a:p>
            <a:pPr marL="0" indent="0" algn="l">
              <a:buNone/>
            </a:pPr>
            <a:r>
              <a:rPr lang="en-ZA" sz="1800" b="0" i="0" u="none" strike="noStrike" baseline="0" dirty="0">
                <a:latin typeface="CourierNewPSMT2"/>
              </a:rPr>
              <a:t>		case 30 : r = </a:t>
            </a:r>
            <a:r>
              <a:rPr lang="en-ZA" sz="1800" b="0" i="0" u="none" strike="noStrike" baseline="0" dirty="0" err="1">
                <a:latin typeface="CourierNewPSMT2"/>
              </a:rPr>
              <a:t>kpipe</a:t>
            </a:r>
            <a:r>
              <a:rPr lang="en-ZA" sz="1800" b="0" i="0" u="none" strike="noStrike" baseline="0" dirty="0">
                <a:latin typeface="CourierNewPSMT2"/>
              </a:rPr>
              <a:t>(b); break;</a:t>
            </a:r>
          </a:p>
          <a:p>
            <a:pPr marL="0" indent="0" algn="l">
              <a:buNone/>
            </a:pPr>
            <a:r>
              <a:rPr lang="en-ZA" sz="1800" b="0" i="0" u="none" strike="noStrike" baseline="0" dirty="0">
                <a:latin typeface="CourierNewPSMT2"/>
              </a:rPr>
              <a:t>		case 31 : r = </a:t>
            </a:r>
            <a:r>
              <a:rPr lang="en-ZA" sz="1800" b="0" i="0" u="none" strike="noStrike" baseline="0" dirty="0" err="1">
                <a:latin typeface="CourierNewPSMT2"/>
              </a:rPr>
              <a:t>read_pipe</a:t>
            </a:r>
            <a:r>
              <a:rPr lang="en-ZA" sz="1800" b="0" i="0" u="none" strike="noStrike" baseline="0" dirty="0">
                <a:latin typeface="CourierNewPSMT2"/>
              </a:rPr>
              <a:t>(</a:t>
            </a:r>
            <a:r>
              <a:rPr lang="en-ZA" sz="1800" b="0" i="0" u="none" strike="noStrike" baseline="0" dirty="0" err="1">
                <a:latin typeface="CourierNewPSMT2"/>
              </a:rPr>
              <a:t>b,c,d</a:t>
            </a:r>
            <a:r>
              <a:rPr lang="en-ZA" sz="1800" b="0" i="0" u="none" strike="noStrike" baseline="0" dirty="0">
                <a:latin typeface="CourierNewPSMT2"/>
              </a:rPr>
              <a:t>); break;</a:t>
            </a:r>
          </a:p>
          <a:p>
            <a:pPr marL="0" indent="0" algn="l">
              <a:buNone/>
            </a:pPr>
            <a:r>
              <a:rPr lang="en-ZA" sz="1800" b="0" i="0" u="none" strike="noStrike" baseline="0" dirty="0">
                <a:latin typeface="CourierNewPSMT2"/>
              </a:rPr>
              <a:t>		case 32 : r = </a:t>
            </a:r>
            <a:r>
              <a:rPr lang="en-ZA" sz="1800" b="0" i="0" u="none" strike="noStrike" baseline="0" dirty="0" err="1">
                <a:latin typeface="CourierNewPSMT2"/>
              </a:rPr>
              <a:t>write_pipe</a:t>
            </a:r>
            <a:r>
              <a:rPr lang="en-ZA" sz="1800" b="0" i="0" u="none" strike="noStrike" baseline="0" dirty="0">
                <a:latin typeface="CourierNewPSMT2"/>
              </a:rPr>
              <a:t>(</a:t>
            </a:r>
            <a:r>
              <a:rPr lang="en-ZA" sz="1800" b="0" i="0" u="none" strike="noStrike" baseline="0" dirty="0" err="1">
                <a:latin typeface="CourierNewPSMT2"/>
              </a:rPr>
              <a:t>b,c,d</a:t>
            </a:r>
            <a:r>
              <a:rPr lang="en-ZA" sz="1800" b="0" i="0" u="none" strike="noStrike" baseline="0" dirty="0">
                <a:latin typeface="CourierNewPSMT2"/>
              </a:rPr>
              <a:t>); break;</a:t>
            </a:r>
          </a:p>
          <a:p>
            <a:pPr marL="0" indent="0" algn="l">
              <a:buNone/>
            </a:pPr>
            <a:r>
              <a:rPr lang="en-ZA" sz="1800" b="0" i="0" u="none" strike="noStrike" baseline="0" dirty="0">
                <a:latin typeface="CourierNewPSMT2"/>
              </a:rPr>
              <a:t>		case 33 : r = </a:t>
            </a:r>
            <a:r>
              <a:rPr lang="en-ZA" sz="1800" b="0" i="0" u="none" strike="noStrike" baseline="0" dirty="0" err="1">
                <a:latin typeface="CourierNewPSMT2"/>
              </a:rPr>
              <a:t>close_pipe</a:t>
            </a:r>
            <a:r>
              <a:rPr lang="en-ZA" sz="1800" b="0" i="0" u="none" strike="noStrike" baseline="0" dirty="0">
                <a:latin typeface="CourierNewPSMT2"/>
              </a:rPr>
              <a:t>(b); break;</a:t>
            </a:r>
          </a:p>
          <a:p>
            <a:pPr marL="0" indent="0" algn="l">
              <a:buNone/>
            </a:pPr>
            <a:r>
              <a:rPr lang="en-ZA" sz="1800" b="0" i="0" u="none" strike="noStrike" baseline="0" dirty="0">
                <a:latin typeface="CourierNewPSMT2"/>
              </a:rPr>
              <a:t>		case 34 : r = </a:t>
            </a:r>
            <a:r>
              <a:rPr lang="en-ZA" sz="1800" b="0" i="0" u="none" strike="noStrike" baseline="0" dirty="0" err="1">
                <a:latin typeface="CourierNewPSMT2"/>
              </a:rPr>
              <a:t>pfd</a:t>
            </a:r>
            <a:r>
              <a:rPr lang="en-ZA" sz="1800" b="0" i="0" u="none" strike="noStrike" baseline="0" dirty="0">
                <a:latin typeface="CourierNewPSMT2"/>
              </a:rPr>
              <a:t>(); break;</a:t>
            </a:r>
            <a:endParaRPr lang="en-GB" dirty="0"/>
          </a:p>
          <a:p>
            <a:pPr lvl="1"/>
            <a:r>
              <a:rPr lang="en-ZA" dirty="0" err="1">
                <a:latin typeface="CourierNewPSMT2"/>
              </a:rPr>
              <a:t>pfd</a:t>
            </a:r>
            <a:r>
              <a:rPr lang="en-ZA" dirty="0">
                <a:latin typeface="CourierNewPSMT2"/>
              </a:rPr>
              <a:t>()</a:t>
            </a:r>
            <a:r>
              <a:rPr lang="en-ZA" dirty="0"/>
              <a:t> displays the opened pipe descriptors of the running process</a:t>
            </a:r>
            <a:endParaRPr lang="en-GB" dirty="0"/>
          </a:p>
          <a:p>
            <a:endParaRPr lang="en-GB" dirty="0"/>
          </a:p>
          <a:p>
            <a:r>
              <a:rPr lang="en-ZA" dirty="0"/>
              <a:t>The complete source code can be found on </a:t>
            </a:r>
            <a:r>
              <a:rPr lang="en-ZA" dirty="0" err="1"/>
              <a:t>thuto</a:t>
            </a:r>
            <a:endParaRPr lang="en-ZA" dirty="0"/>
          </a:p>
          <a:p>
            <a:pPr lvl="1"/>
            <a:r>
              <a:rPr lang="en-ZA" dirty="0"/>
              <a:t>MTX6.pipe1 and MTX6.pipe2 demonstrate pipes in our OS </a:t>
            </a:r>
          </a:p>
          <a:p>
            <a:endParaRPr lang="en-LS" dirty="0"/>
          </a:p>
        </p:txBody>
      </p:sp>
    </p:spTree>
    <p:extLst>
      <p:ext uri="{BB962C8B-B14F-4D97-AF65-F5344CB8AC3E}">
        <p14:creationId xmlns:p14="http://schemas.microsoft.com/office/powerpoint/2010/main" val="17453662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Overview of today’s lecture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ZA" dirty="0"/>
              <a:t>Introduction</a:t>
            </a:r>
            <a:r>
              <a:rPr lang="en-ZA" b="1" dirty="0">
                <a:solidFill>
                  <a:srgbClr val="FF0000"/>
                </a:solidFill>
              </a:rPr>
              <a:t> </a:t>
            </a:r>
          </a:p>
          <a:p>
            <a:r>
              <a:rPr lang="en-ZA" dirty="0"/>
              <a:t>Process Synchronization Problem</a:t>
            </a:r>
          </a:p>
          <a:p>
            <a:r>
              <a:rPr lang="en-ZA" dirty="0"/>
              <a:t>Critical Region and Implementation</a:t>
            </a:r>
          </a:p>
          <a:p>
            <a:r>
              <a:rPr lang="en-ZA" dirty="0"/>
              <a:t>Process Synchronization Mechanisms</a:t>
            </a:r>
          </a:p>
          <a:p>
            <a:r>
              <a:rPr lang="en-ZA" dirty="0"/>
              <a:t>Pipes and Implementation</a:t>
            </a:r>
          </a:p>
          <a:p>
            <a:r>
              <a:rPr lang="en-ZA" b="1" dirty="0">
                <a:solidFill>
                  <a:srgbClr val="FF0000"/>
                </a:solidFill>
              </a:rPr>
              <a:t>Message Passing</a:t>
            </a:r>
          </a:p>
        </p:txBody>
      </p:sp>
    </p:spTree>
    <p:extLst>
      <p:ext uri="{BB962C8B-B14F-4D97-AF65-F5344CB8AC3E}">
        <p14:creationId xmlns:p14="http://schemas.microsoft.com/office/powerpoint/2010/main" val="34799544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F8491-5D5C-44FE-8D20-D9885DA2D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Message Passing</a:t>
            </a:r>
            <a:endParaRPr lang="en-L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3CDBD-C77C-42E9-9555-6D302C438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50577"/>
            <a:ext cx="8596668" cy="5432612"/>
          </a:xfrm>
        </p:spPr>
        <p:txBody>
          <a:bodyPr>
            <a:normAutofit/>
          </a:bodyPr>
          <a:lstStyle/>
          <a:p>
            <a:r>
              <a:rPr lang="en-ZA" dirty="0"/>
              <a:t>Message passing allows processes to communicate with one another by exchanging messages</a:t>
            </a:r>
          </a:p>
          <a:p>
            <a:r>
              <a:rPr lang="en-ZA" dirty="0"/>
              <a:t>Since processes have distinct (</a:t>
            </a:r>
            <a:r>
              <a:rPr lang="en-ZA" dirty="0" err="1"/>
              <a:t>Umode</a:t>
            </a:r>
            <a:r>
              <a:rPr lang="en-ZA" dirty="0"/>
              <a:t>) address spaces, they cannot access each other's memory area directly </a:t>
            </a:r>
          </a:p>
          <a:p>
            <a:pPr lvl="1"/>
            <a:r>
              <a:rPr lang="en-ZA" dirty="0"/>
              <a:t>Therefore, message passing must go through the kernel</a:t>
            </a:r>
          </a:p>
          <a:p>
            <a:r>
              <a:rPr lang="en-ZA" dirty="0"/>
              <a:t>For simplicity, we shall assume that message contents are text strings of finite length</a:t>
            </a:r>
          </a:p>
          <a:p>
            <a:pPr lvl="1"/>
            <a:r>
              <a:rPr lang="en-ZA" dirty="0"/>
              <a:t>We also assume that the kernel has a finite set of message buffers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latin typeface="CourierNewPSMT"/>
              </a:rPr>
              <a:t>	typedef struct </a:t>
            </a:r>
            <a:r>
              <a:rPr lang="en-GB" sz="1800" b="0" i="0" u="none" strike="noStrike" baseline="0" dirty="0" err="1">
                <a:latin typeface="CourierNewPSMT"/>
              </a:rPr>
              <a:t>mbuf</a:t>
            </a:r>
            <a:r>
              <a:rPr lang="en-GB" sz="1800" b="0" i="0" u="none" strike="noStrike" baseline="0" dirty="0">
                <a:latin typeface="CourierNewPSMT"/>
              </a:rPr>
              <a:t>{</a:t>
            </a:r>
          </a:p>
          <a:p>
            <a:pPr marL="0" indent="0" algn="l">
              <a:buNone/>
            </a:pPr>
            <a:r>
              <a:rPr lang="en-ZA" sz="1800" b="0" i="0" u="none" strike="noStrike" baseline="0" dirty="0">
                <a:latin typeface="CourierNewPSMT"/>
              </a:rPr>
              <a:t>		struct </a:t>
            </a:r>
            <a:r>
              <a:rPr lang="en-ZA" sz="1800" b="0" i="0" u="none" strike="noStrike" baseline="0" dirty="0" err="1">
                <a:latin typeface="CourierNewPSMT"/>
              </a:rPr>
              <a:t>mbuf</a:t>
            </a:r>
            <a:r>
              <a:rPr lang="en-ZA" sz="1800" b="0" i="0" u="none" strike="noStrike" baseline="0" dirty="0">
                <a:latin typeface="CourierNewPSMT"/>
              </a:rPr>
              <a:t> *next; 	// pointer to next </a:t>
            </a:r>
            <a:r>
              <a:rPr lang="en-ZA" sz="1800" b="0" i="0" u="none" strike="noStrike" baseline="0" dirty="0" err="1">
                <a:latin typeface="CourierNewPSMT"/>
              </a:rPr>
              <a:t>mbuf</a:t>
            </a:r>
            <a:endParaRPr lang="en-ZA" sz="1800" b="0" i="0" u="none" strike="noStrike" baseline="0" dirty="0">
              <a:latin typeface="CourierNewPSMT"/>
            </a:endParaRPr>
          </a:p>
          <a:p>
            <a:pPr marL="0" indent="0" algn="l">
              <a:buNone/>
            </a:pPr>
            <a:r>
              <a:rPr lang="en-GB" sz="1800" b="0" i="0" u="none" strike="noStrike" baseline="0" dirty="0">
                <a:latin typeface="CourierNewPSMT"/>
              </a:rPr>
              <a:t>		int </a:t>
            </a:r>
            <a:r>
              <a:rPr lang="en-GB" sz="1800" b="0" i="0" u="none" strike="noStrike" baseline="0" dirty="0" err="1">
                <a:latin typeface="CourierNewPSMT"/>
              </a:rPr>
              <a:t>pid</a:t>
            </a:r>
            <a:r>
              <a:rPr lang="en-GB" sz="1800" b="0" i="0" u="none" strike="noStrike" baseline="0" dirty="0">
                <a:latin typeface="CourierNewPSMT"/>
              </a:rPr>
              <a:t>; 			// sender </a:t>
            </a:r>
            <a:r>
              <a:rPr lang="en-GB" sz="1800" b="0" i="0" u="none" strike="noStrike" baseline="0" dirty="0" err="1">
                <a:latin typeface="CourierNewPSMT"/>
              </a:rPr>
              <a:t>pid</a:t>
            </a:r>
            <a:endParaRPr lang="en-GB" dirty="0"/>
          </a:p>
          <a:p>
            <a:pPr marL="0" indent="0" algn="l">
              <a:buNone/>
            </a:pPr>
            <a:r>
              <a:rPr lang="en-GB" sz="1800" b="0" i="0" u="none" strike="noStrike" baseline="0" dirty="0">
                <a:latin typeface="CourierNewPSMT"/>
              </a:rPr>
              <a:t>		int priority; 		// message priority</a:t>
            </a:r>
          </a:p>
          <a:p>
            <a:pPr marL="0" indent="0" algn="l">
              <a:buNone/>
            </a:pPr>
            <a:r>
              <a:rPr lang="fr-FR" sz="1800" b="0" i="0" u="none" strike="noStrike" baseline="0" dirty="0">
                <a:latin typeface="CourierNewPSMT"/>
              </a:rPr>
              <a:t>		char contents[128]; 	// message contents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latin typeface="CourierNewPSMT"/>
              </a:rPr>
              <a:t>	}MBUF; MBUF </a:t>
            </a:r>
            <a:r>
              <a:rPr lang="en-GB" sz="1800" b="0" i="0" u="none" strike="noStrike" baseline="0" dirty="0" err="1">
                <a:latin typeface="CourierNewPSMT"/>
              </a:rPr>
              <a:t>mbuf</a:t>
            </a:r>
            <a:r>
              <a:rPr lang="en-GB" sz="1800" b="0" i="0" u="none" strike="noStrike" baseline="0" dirty="0">
                <a:latin typeface="CourierNewPSMT"/>
              </a:rPr>
              <a:t>[NMBUF]; 	// NMBUF = number of </a:t>
            </a:r>
            <a:r>
              <a:rPr lang="en-GB" sz="1800" b="0" i="0" u="none" strike="noStrike" baseline="0" dirty="0" err="1">
                <a:latin typeface="CourierNewPSMT"/>
              </a:rPr>
              <a:t>mbufs</a:t>
            </a:r>
            <a:endParaRPr lang="en-GB" dirty="0"/>
          </a:p>
          <a:p>
            <a:endParaRPr lang="en-LS" dirty="0"/>
          </a:p>
        </p:txBody>
      </p:sp>
    </p:spTree>
    <p:extLst>
      <p:ext uri="{BB962C8B-B14F-4D97-AF65-F5344CB8AC3E}">
        <p14:creationId xmlns:p14="http://schemas.microsoft.com/office/powerpoint/2010/main" val="17633506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F8491-5D5C-44FE-8D20-D9885DA2D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Message Passing</a:t>
            </a:r>
            <a:endParaRPr lang="en-L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3CDBD-C77C-42E9-9555-6D302C438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50577"/>
            <a:ext cx="8596668" cy="5432612"/>
          </a:xfrm>
        </p:spPr>
        <p:txBody>
          <a:bodyPr>
            <a:normAutofit fontScale="85000" lnSpcReduction="10000"/>
          </a:bodyPr>
          <a:lstStyle/>
          <a:p>
            <a:r>
              <a:rPr lang="en-ZA" dirty="0"/>
              <a:t>Initially, all message buffers are in a free </a:t>
            </a:r>
            <a:r>
              <a:rPr lang="en-ZA" dirty="0" err="1">
                <a:latin typeface="CourierNewPSMT2"/>
              </a:rPr>
              <a:t>mbufList</a:t>
            </a:r>
            <a:endParaRPr lang="en-ZA" dirty="0">
              <a:latin typeface="CourierNewPSMT2"/>
            </a:endParaRPr>
          </a:p>
          <a:p>
            <a:r>
              <a:rPr lang="en-ZA" dirty="0"/>
              <a:t>To send a message, a process must get a free </a:t>
            </a:r>
            <a:r>
              <a:rPr lang="en-ZA" dirty="0" err="1">
                <a:latin typeface="CourierNewPSMT2"/>
              </a:rPr>
              <a:t>mbuf</a:t>
            </a:r>
            <a:r>
              <a:rPr lang="en-ZA" dirty="0"/>
              <a:t> first </a:t>
            </a:r>
          </a:p>
          <a:p>
            <a:r>
              <a:rPr lang="en-ZA" dirty="0"/>
              <a:t>After receiving a message, it releases the </a:t>
            </a:r>
            <a:r>
              <a:rPr lang="en-ZA" dirty="0" err="1">
                <a:latin typeface="CourierNewPSMT2"/>
              </a:rPr>
              <a:t>mbuf</a:t>
            </a:r>
            <a:r>
              <a:rPr lang="en-ZA" dirty="0"/>
              <a:t> as free</a:t>
            </a:r>
          </a:p>
          <a:p>
            <a:r>
              <a:rPr lang="en-ZA" dirty="0"/>
              <a:t>Since the </a:t>
            </a:r>
            <a:r>
              <a:rPr lang="en-ZA" dirty="0" err="1">
                <a:latin typeface="CourierNewPSMT2"/>
              </a:rPr>
              <a:t>mbufList</a:t>
            </a:r>
            <a:r>
              <a:rPr lang="en-ZA" dirty="0"/>
              <a:t> is accessed by many processes, it is a CR and must be protected</a:t>
            </a:r>
          </a:p>
          <a:p>
            <a:pPr lvl="1"/>
            <a:r>
              <a:rPr lang="en-ZA" dirty="0"/>
              <a:t>So we define a semaphore </a:t>
            </a:r>
            <a:r>
              <a:rPr lang="en-ZA" dirty="0" err="1">
                <a:latin typeface="CourierNewPSMT2"/>
              </a:rPr>
              <a:t>mlock</a:t>
            </a:r>
            <a:r>
              <a:rPr lang="en-ZA" dirty="0">
                <a:latin typeface="CourierNewPSMT2"/>
              </a:rPr>
              <a:t> = 1 </a:t>
            </a:r>
            <a:r>
              <a:rPr lang="en-ZA" dirty="0"/>
              <a:t>for processes to access the </a:t>
            </a:r>
            <a:r>
              <a:rPr lang="en-ZA" dirty="0" err="1">
                <a:latin typeface="CourierNewPSMT2"/>
              </a:rPr>
              <a:t>mbufList</a:t>
            </a:r>
            <a:r>
              <a:rPr lang="en-ZA" dirty="0"/>
              <a:t> exclusively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latin typeface="CourierNewPSMT2"/>
              </a:rPr>
              <a:t>	MBUF *</a:t>
            </a:r>
            <a:r>
              <a:rPr lang="en-GB" sz="1800" b="0" i="0" u="none" strike="noStrike" baseline="0" dirty="0" err="1">
                <a:latin typeface="CourierNewPSMT2"/>
              </a:rPr>
              <a:t>get_mbuf</a:t>
            </a:r>
            <a:r>
              <a:rPr lang="en-GB" sz="1800" b="0" i="0" u="none" strike="noStrike" baseline="0" dirty="0">
                <a:latin typeface="CourierNewPSMT2"/>
              </a:rPr>
              <a:t>() </a:t>
            </a:r>
            <a:r>
              <a:rPr lang="en-LS" sz="1800" b="0" i="0" u="none" strike="noStrike" baseline="0" dirty="0">
                <a:latin typeface="CourierNewPSMT2"/>
              </a:rPr>
              <a:t>{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latin typeface="CourierNewPSMT2"/>
              </a:rPr>
              <a:t>		P(</a:t>
            </a:r>
            <a:r>
              <a:rPr lang="en-GB" sz="1800" b="0" i="0" u="none" strike="noStrike" baseline="0" dirty="0" err="1">
                <a:latin typeface="CourierNewPSMT2"/>
              </a:rPr>
              <a:t>mlock</a:t>
            </a:r>
            <a:r>
              <a:rPr lang="en-GB" sz="1800" b="0" i="0" u="none" strike="noStrike" baseline="0" dirty="0">
                <a:latin typeface="CourierNewPSMT2"/>
              </a:rPr>
              <a:t>);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latin typeface="CourierNewPSMT2"/>
              </a:rPr>
              <a:t>		MBUF *</a:t>
            </a:r>
            <a:r>
              <a:rPr lang="en-GB" sz="1800" b="0" i="0" u="none" strike="noStrike" baseline="0" dirty="0" err="1">
                <a:latin typeface="CourierNewPSMT2"/>
              </a:rPr>
              <a:t>mp</a:t>
            </a:r>
            <a:r>
              <a:rPr lang="en-GB" sz="1800" b="0" i="0" u="none" strike="noStrike" baseline="0" dirty="0">
                <a:latin typeface="CourierNewPSMT2"/>
              </a:rPr>
              <a:t> = dequeue(</a:t>
            </a:r>
            <a:r>
              <a:rPr lang="en-GB" sz="1800" b="0" i="0" u="none" strike="noStrike" baseline="0" dirty="0" err="1">
                <a:latin typeface="CourierNewPSMT2"/>
              </a:rPr>
              <a:t>mbuflList</a:t>
            </a:r>
            <a:r>
              <a:rPr lang="en-GB" sz="1800" b="0" i="0" u="none" strike="noStrike" baseline="0" dirty="0">
                <a:latin typeface="CourierNewPSMT2"/>
              </a:rPr>
              <a:t>);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latin typeface="CourierNewPSMT2"/>
              </a:rPr>
              <a:t>		V(</a:t>
            </a:r>
            <a:r>
              <a:rPr lang="en-GB" sz="1800" b="0" i="0" u="none" strike="noStrike" baseline="0" dirty="0" err="1">
                <a:latin typeface="CourierNewPSMT2"/>
              </a:rPr>
              <a:t>mlock</a:t>
            </a:r>
            <a:r>
              <a:rPr lang="en-GB" sz="1800" b="0" i="0" u="none" strike="noStrike" baseline="0" dirty="0">
                <a:latin typeface="CourierNewPSMT2"/>
              </a:rPr>
              <a:t>);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latin typeface="CourierNewPSMT2"/>
              </a:rPr>
              <a:t>		return </a:t>
            </a:r>
            <a:r>
              <a:rPr lang="en-GB" sz="1800" b="0" i="0" u="none" strike="noStrike" baseline="0" dirty="0" err="1">
                <a:latin typeface="CourierNewPSMT2"/>
              </a:rPr>
              <a:t>mp</a:t>
            </a:r>
            <a:r>
              <a:rPr lang="en-GB" sz="1800" b="0" i="0" u="none" strike="noStrike" baseline="0" dirty="0">
                <a:latin typeface="CourierNewPSMT2"/>
              </a:rPr>
              <a:t>;</a:t>
            </a:r>
          </a:p>
          <a:p>
            <a:pPr marL="0" indent="0" algn="l">
              <a:buNone/>
            </a:pPr>
            <a:r>
              <a:rPr lang="en-ZA" sz="1800" b="0" i="0" u="none" strike="noStrike" baseline="0" dirty="0">
                <a:latin typeface="CourierNewPSMT2"/>
              </a:rPr>
              <a:t>	}</a:t>
            </a:r>
          </a:p>
          <a:p>
            <a:pPr marL="0" indent="0" algn="l">
              <a:buNone/>
            </a:pPr>
            <a:r>
              <a:rPr lang="en-ZA" sz="1800" b="0" i="0" u="none" strike="noStrike" baseline="0" dirty="0">
                <a:latin typeface="CourierNewPSMT2"/>
              </a:rPr>
              <a:t>	int </a:t>
            </a:r>
            <a:r>
              <a:rPr lang="en-ZA" sz="1800" b="0" i="0" u="none" strike="noStrike" baseline="0" dirty="0" err="1">
                <a:latin typeface="CourierNewPSMT2"/>
              </a:rPr>
              <a:t>put_mbuf</a:t>
            </a:r>
            <a:r>
              <a:rPr lang="en-ZA" sz="1800" b="0" i="0" u="none" strike="noStrike" baseline="0" dirty="0">
                <a:latin typeface="CourierNewPSMT2"/>
              </a:rPr>
              <a:t>(MBUF *</a:t>
            </a:r>
            <a:r>
              <a:rPr lang="en-ZA" sz="1800" b="0" i="0" u="none" strike="noStrike" baseline="0" dirty="0" err="1">
                <a:latin typeface="CourierNewPSMT2"/>
              </a:rPr>
              <a:t>mp</a:t>
            </a:r>
            <a:r>
              <a:rPr lang="en-ZA" sz="1800" b="0" i="0" u="none" strike="noStrike" baseline="0" dirty="0">
                <a:latin typeface="CourierNewPSMT2"/>
              </a:rPr>
              <a:t>) </a:t>
            </a:r>
            <a:r>
              <a:rPr lang="en-LS" sz="1800" b="0" i="0" u="none" strike="noStrike" baseline="0" dirty="0">
                <a:latin typeface="CourierNewPSMT2"/>
              </a:rPr>
              <a:t>{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latin typeface="CourierNewPSMT2"/>
              </a:rPr>
              <a:t>		P(</a:t>
            </a:r>
            <a:r>
              <a:rPr lang="en-GB" sz="1800" b="0" i="0" u="none" strike="noStrike" baseline="0" dirty="0" err="1">
                <a:latin typeface="CourierNewPSMT2"/>
              </a:rPr>
              <a:t>mlock</a:t>
            </a:r>
            <a:r>
              <a:rPr lang="en-GB" sz="1800" b="0" i="0" u="none" strike="noStrike" baseline="0" dirty="0">
                <a:latin typeface="CourierNewPSMT2"/>
              </a:rPr>
              <a:t>);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latin typeface="CourierNewPSMT2"/>
              </a:rPr>
              <a:t>		enqueue(</a:t>
            </a:r>
            <a:r>
              <a:rPr lang="en-GB" sz="1800" b="0" i="0" u="none" strike="noStrike" baseline="0" dirty="0" err="1">
                <a:latin typeface="CourierNewPSMT2"/>
              </a:rPr>
              <a:t>mbufList</a:t>
            </a:r>
            <a:r>
              <a:rPr lang="en-GB" sz="1800" b="0" i="0" u="none" strike="noStrike" baseline="0" dirty="0">
                <a:latin typeface="CourierNewPSMT2"/>
              </a:rPr>
              <a:t>)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latin typeface="CourierNewPSMT2"/>
              </a:rPr>
              <a:t>		V(</a:t>
            </a:r>
            <a:r>
              <a:rPr lang="en-GB" sz="1800" b="0" i="0" u="none" strike="noStrike" baseline="0" dirty="0" err="1">
                <a:latin typeface="CourierNewPSMT2"/>
              </a:rPr>
              <a:t>mlock</a:t>
            </a:r>
            <a:r>
              <a:rPr lang="en-GB" sz="1800" b="0" i="0" u="none" strike="noStrike" baseline="0" dirty="0">
                <a:latin typeface="CourierNewPSMT2"/>
              </a:rPr>
              <a:t>);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latin typeface="CourierNewPSMT2"/>
              </a:rPr>
              <a:t>	</a:t>
            </a:r>
            <a:r>
              <a:rPr lang="en-LS" sz="1800" b="0" i="0" u="none" strike="noStrike" baseline="0" dirty="0">
                <a:latin typeface="CourierNewPSMT2"/>
              </a:rPr>
              <a:t>}</a:t>
            </a:r>
            <a:endParaRPr lang="en-GB" dirty="0"/>
          </a:p>
          <a:p>
            <a:endParaRPr lang="en-LS" dirty="0"/>
          </a:p>
        </p:txBody>
      </p:sp>
    </p:spTree>
    <p:extLst>
      <p:ext uri="{BB962C8B-B14F-4D97-AF65-F5344CB8AC3E}">
        <p14:creationId xmlns:p14="http://schemas.microsoft.com/office/powerpoint/2010/main" val="30760668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F8491-5D5C-44FE-8D20-D9885DA2D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Message Passing</a:t>
            </a:r>
            <a:endParaRPr lang="en-L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3CDBD-C77C-42E9-9555-6D302C438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50577"/>
            <a:ext cx="8596668" cy="5432612"/>
          </a:xfrm>
        </p:spPr>
        <p:txBody>
          <a:bodyPr>
            <a:normAutofit/>
          </a:bodyPr>
          <a:lstStyle/>
          <a:p>
            <a:r>
              <a:rPr lang="en-ZA" dirty="0"/>
              <a:t>Asynchronous Message </a:t>
            </a:r>
          </a:p>
          <a:p>
            <a:pPr lvl="1"/>
            <a:r>
              <a:rPr lang="en-ZA" dirty="0"/>
              <a:t>In the asynchronous message passing scheme, both send and receive operations are non-blocking</a:t>
            </a:r>
          </a:p>
          <a:p>
            <a:pPr lvl="1"/>
            <a:r>
              <a:rPr lang="en-ZA" dirty="0"/>
              <a:t>If a process cannot send or receive a message, it returns a failed status, in which case the process may retry the operation again later</a:t>
            </a:r>
          </a:p>
          <a:p>
            <a:pPr lvl="1"/>
            <a:r>
              <a:rPr lang="en-ZA" dirty="0"/>
              <a:t>Asynchronous communication is intended mainly for loosely-coupled systems, in which inter-process communication is infrequent</a:t>
            </a:r>
          </a:p>
          <a:p>
            <a:r>
              <a:rPr lang="en-GB" dirty="0"/>
              <a:t>Synchronous Message </a:t>
            </a:r>
          </a:p>
          <a:p>
            <a:pPr lvl="1"/>
            <a:r>
              <a:rPr lang="en-ZA" dirty="0"/>
              <a:t>In the synchronous message passing scheme, both send and receive operations are blocking</a:t>
            </a:r>
            <a:endParaRPr lang="en-GB" dirty="0"/>
          </a:p>
          <a:p>
            <a:pPr lvl="1"/>
            <a:r>
              <a:rPr lang="en-ZA" dirty="0"/>
              <a:t>A sending process must “wait” if there is no free </a:t>
            </a:r>
            <a:r>
              <a:rPr lang="en-ZA" dirty="0" err="1"/>
              <a:t>mbuf</a:t>
            </a:r>
            <a:endParaRPr lang="en-ZA" dirty="0"/>
          </a:p>
          <a:p>
            <a:pPr lvl="1"/>
            <a:r>
              <a:rPr lang="en-ZA" dirty="0"/>
              <a:t>Similarly, a receiving process must “wait” if there is no message in its message queue</a:t>
            </a:r>
          </a:p>
          <a:p>
            <a:pPr lvl="1"/>
            <a:r>
              <a:rPr lang="en-GB" dirty="0"/>
              <a:t>Synchronous communication is more efficient than asynchronous communication</a:t>
            </a:r>
          </a:p>
          <a:p>
            <a:pPr lvl="1"/>
            <a:r>
              <a:rPr lang="en-ZA" dirty="0"/>
              <a:t>Well suited to tightly-coupled systems in which processes exchange messages on a planned or regular basis</a:t>
            </a:r>
          </a:p>
          <a:p>
            <a:endParaRPr lang="en-LS" dirty="0"/>
          </a:p>
        </p:txBody>
      </p:sp>
    </p:spTree>
    <p:extLst>
      <p:ext uri="{BB962C8B-B14F-4D97-AF65-F5344CB8AC3E}">
        <p14:creationId xmlns:p14="http://schemas.microsoft.com/office/powerpoint/2010/main" val="29929701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F8491-5D5C-44FE-8D20-D9885DA2D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Server-Client Message Passing</a:t>
            </a:r>
            <a:endParaRPr lang="en-L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3CDBD-C77C-42E9-9555-6D302C438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50577"/>
            <a:ext cx="8596668" cy="5432612"/>
          </a:xfrm>
        </p:spPr>
        <p:txBody>
          <a:bodyPr>
            <a:normAutofit fontScale="92500" lnSpcReduction="10000"/>
          </a:bodyPr>
          <a:lstStyle/>
          <a:p>
            <a:r>
              <a:rPr lang="en-ZA" dirty="0"/>
              <a:t>In a simple server-client communication system, there are two processes; servers and clients</a:t>
            </a:r>
          </a:p>
          <a:p>
            <a:pPr lvl="1"/>
            <a:r>
              <a:rPr lang="en-ZA" dirty="0"/>
              <a:t>After sending a request to a server, a client immediately waits for a reply since there is nothing else the client can do</a:t>
            </a:r>
          </a:p>
          <a:p>
            <a:pPr lvl="1"/>
            <a:r>
              <a:rPr lang="en-ZA" dirty="0"/>
              <a:t>Upon receiving a client request, a server handles the request, sends a reply to the client</a:t>
            </a:r>
          </a:p>
          <a:p>
            <a:pPr lvl="1"/>
            <a:r>
              <a:rPr lang="en-ZA" dirty="0"/>
              <a:t>A server blocked in </a:t>
            </a:r>
            <a:r>
              <a:rPr lang="en-ZA" dirty="0" err="1">
                <a:latin typeface="CourierNewPSMT2"/>
              </a:rPr>
              <a:t>recv</a:t>
            </a:r>
            <a:r>
              <a:rPr lang="en-ZA" dirty="0">
                <a:latin typeface="CourierNewPSMT2"/>
              </a:rPr>
              <a:t>()</a:t>
            </a:r>
            <a:r>
              <a:rPr lang="en-ZA" dirty="0"/>
              <a:t> will be unblocked by a client request </a:t>
            </a:r>
          </a:p>
          <a:p>
            <a:pPr lvl="1"/>
            <a:r>
              <a:rPr lang="en-ZA" dirty="0"/>
              <a:t>Similarly, a client blocked in </a:t>
            </a:r>
            <a:r>
              <a:rPr lang="en-ZA" dirty="0" err="1">
                <a:latin typeface="CourierNewPSMT2"/>
              </a:rPr>
              <a:t>recv</a:t>
            </a:r>
            <a:r>
              <a:rPr lang="en-ZA" dirty="0">
                <a:latin typeface="CourierNewPSMT2"/>
              </a:rPr>
              <a:t>()</a:t>
            </a:r>
            <a:r>
              <a:rPr lang="en-ZA" dirty="0"/>
              <a:t> will be unblocked by a server reply</a:t>
            </a:r>
          </a:p>
          <a:p>
            <a:r>
              <a:rPr lang="en-ZA" dirty="0"/>
              <a:t>The simple server-client model can be extended to handle multiple levels of clients and servers</a:t>
            </a:r>
          </a:p>
          <a:p>
            <a:pPr lvl="1"/>
            <a:r>
              <a:rPr lang="en-ZA" dirty="0"/>
              <a:t>processes are divided into levels, 1 to N, where 1 is the lowest and N is the highest level</a:t>
            </a:r>
          </a:p>
          <a:p>
            <a:pPr lvl="1"/>
            <a:r>
              <a:rPr lang="en-ZA" dirty="0"/>
              <a:t>process at level-1 is a client, which can only send a request and immediately waits for a reply</a:t>
            </a:r>
          </a:p>
          <a:p>
            <a:pPr lvl="1"/>
            <a:r>
              <a:rPr lang="en-ZA" dirty="0"/>
              <a:t>process at level-N is a server, which can only receive a request, handle it and</a:t>
            </a:r>
          </a:p>
          <a:p>
            <a:pPr lvl="1"/>
            <a:r>
              <a:rPr lang="en-ZA" dirty="0"/>
              <a:t>send a reply to the client </a:t>
            </a:r>
          </a:p>
          <a:p>
            <a:pPr lvl="1"/>
            <a:r>
              <a:rPr lang="en-ZA" dirty="0"/>
              <a:t>process at level </a:t>
            </a:r>
            <a:r>
              <a:rPr lang="en-ZA" dirty="0" err="1"/>
              <a:t>i</a:t>
            </a:r>
            <a:r>
              <a:rPr lang="en-ZA" dirty="0"/>
              <a:t>, (1 &lt; </a:t>
            </a:r>
            <a:r>
              <a:rPr lang="en-ZA" dirty="0" err="1"/>
              <a:t>i</a:t>
            </a:r>
            <a:r>
              <a:rPr lang="en-ZA" dirty="0"/>
              <a:t> &lt; N), can be both a server and a client</a:t>
            </a:r>
          </a:p>
          <a:p>
            <a:pPr lvl="2"/>
            <a:r>
              <a:rPr lang="en-ZA" dirty="0"/>
              <a:t>As a server, it may receive requests from clients at lower levels</a:t>
            </a:r>
          </a:p>
          <a:p>
            <a:pPr lvl="2"/>
            <a:r>
              <a:rPr lang="en-ZA" dirty="0"/>
              <a:t>As a client, it may send requests to higher level servers</a:t>
            </a:r>
            <a:endParaRPr lang="en-GB" dirty="0"/>
          </a:p>
          <a:p>
            <a:endParaRPr lang="en-LS" dirty="0"/>
          </a:p>
        </p:txBody>
      </p:sp>
    </p:spTree>
    <p:extLst>
      <p:ext uri="{BB962C8B-B14F-4D97-AF65-F5344CB8AC3E}">
        <p14:creationId xmlns:p14="http://schemas.microsoft.com/office/powerpoint/2010/main" val="7067009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F8491-5D5C-44FE-8D20-D9885DA2D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Server-Client Message Passing</a:t>
            </a:r>
            <a:endParaRPr lang="en-L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3CDBD-C77C-42E9-9555-6D302C438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50577"/>
            <a:ext cx="8596668" cy="5432612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MTX6.message2 demonstrates multi-level message passing</a:t>
            </a:r>
          </a:p>
          <a:p>
            <a:pPr lvl="1"/>
            <a:r>
              <a:rPr lang="en-ZA" dirty="0"/>
              <a:t>When the system starts, P1 begins to run u1 in </a:t>
            </a:r>
            <a:r>
              <a:rPr lang="en-ZA" dirty="0" err="1"/>
              <a:t>Umode</a:t>
            </a:r>
            <a:r>
              <a:rPr lang="en-ZA" dirty="0"/>
              <a:t> </a:t>
            </a:r>
          </a:p>
          <a:p>
            <a:pPr lvl="2"/>
            <a:r>
              <a:rPr lang="en-ZA" dirty="0"/>
              <a:t>fork several processes, e.g. P2 to P6, at different levels </a:t>
            </a:r>
          </a:p>
          <a:p>
            <a:pPr lvl="2"/>
            <a:r>
              <a:rPr lang="en-ZA" dirty="0"/>
              <a:t>The process levels are assigned in </a:t>
            </a:r>
            <a:r>
              <a:rPr lang="en-ZA" dirty="0" err="1"/>
              <a:t>init</a:t>
            </a:r>
            <a:r>
              <a:rPr lang="en-ZA" dirty="0"/>
              <a:t>() as (P1, P2) at level-1, (P3, P4) at level-2, (P5, P6) at level-3, etc.</a:t>
            </a:r>
          </a:p>
          <a:p>
            <a:pPr lvl="1"/>
            <a:r>
              <a:rPr lang="en-ZA" dirty="0"/>
              <a:t>In this case, (P1, P2) can only be clients</a:t>
            </a:r>
          </a:p>
          <a:p>
            <a:pPr lvl="1"/>
            <a:r>
              <a:rPr lang="en-ZA" dirty="0"/>
              <a:t>(P3, P4) can be both server and client </a:t>
            </a:r>
          </a:p>
          <a:p>
            <a:pPr lvl="1"/>
            <a:r>
              <a:rPr lang="en-ZA" dirty="0"/>
              <a:t>(P5, P6) can only be servers if there is no process above level-3</a:t>
            </a:r>
            <a:endParaRPr lang="en-GB" dirty="0"/>
          </a:p>
          <a:p>
            <a:r>
              <a:rPr lang="en-ZA" dirty="0"/>
              <a:t>Multi-level server-client message passing is not intended as a general mechanism for IPC</a:t>
            </a:r>
          </a:p>
          <a:p>
            <a:pPr lvl="1"/>
            <a:r>
              <a:rPr lang="en-ZA" dirty="0"/>
              <a:t>It is suitable for systems with a hierarchical communication organization, such as microkernel based operating systems</a:t>
            </a:r>
          </a:p>
          <a:p>
            <a:pPr lvl="1"/>
            <a:r>
              <a:rPr lang="en-ZA" dirty="0"/>
              <a:t>A microkernel is a kernel with only the essential functions of an operating system, such as process scheduling and message passing. </a:t>
            </a:r>
          </a:p>
          <a:p>
            <a:pPr lvl="1"/>
            <a:r>
              <a:rPr lang="en-ZA" dirty="0"/>
              <a:t>All other functions, such as process management, memory management, device drivers and file system, etc. can be implemented as server processes</a:t>
            </a:r>
          </a:p>
          <a:p>
            <a:r>
              <a:rPr lang="en-ZA" dirty="0"/>
              <a:t>In this sense, MTX6.message2 as a microkernel, but it is far from being a complete operating system</a:t>
            </a:r>
          </a:p>
          <a:p>
            <a:endParaRPr lang="en-LS" dirty="0"/>
          </a:p>
        </p:txBody>
      </p:sp>
    </p:spTree>
    <p:extLst>
      <p:ext uri="{BB962C8B-B14F-4D97-AF65-F5344CB8AC3E}">
        <p14:creationId xmlns:p14="http://schemas.microsoft.com/office/powerpoint/2010/main" val="28212031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6AD55-36D5-42F3-B3B3-7CE64A649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Next Lecture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32D3B-87E9-4CD5-8828-340BD0145D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Reading</a:t>
            </a:r>
          </a:p>
          <a:p>
            <a:pPr lvl="1"/>
            <a:r>
              <a:rPr lang="en-GB" dirty="0"/>
              <a:t>Chapter 7 - Memory Management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25211289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1264</TotalTime>
  <Words>5056</Words>
  <Application>Microsoft Office PowerPoint</Application>
  <PresentationFormat>Widescreen</PresentationFormat>
  <Paragraphs>463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5" baseType="lpstr">
      <vt:lpstr>Arial</vt:lpstr>
      <vt:lpstr>Courier New</vt:lpstr>
      <vt:lpstr>CourierNewPS-BoldMT</vt:lpstr>
      <vt:lpstr>CourierNewPSMT</vt:lpstr>
      <vt:lpstr>CourierNewPSMT2</vt:lpstr>
      <vt:lpstr>TimesNewRomanPS-BoldMT3</vt:lpstr>
      <vt:lpstr>Trebuchet MS</vt:lpstr>
      <vt:lpstr>Wingdings 3</vt:lpstr>
      <vt:lpstr>Facet</vt:lpstr>
      <vt:lpstr>CS 4421  Operating Systems II</vt:lpstr>
      <vt:lpstr>Overview of today’s lecture</vt:lpstr>
      <vt:lpstr>Introduction </vt:lpstr>
      <vt:lpstr>Introduction </vt:lpstr>
      <vt:lpstr>Overview of today’s lecture</vt:lpstr>
      <vt:lpstr>Process Synchronization Problem</vt:lpstr>
      <vt:lpstr>Process Synchronization Solution</vt:lpstr>
      <vt:lpstr>Process Synchronization Solution</vt:lpstr>
      <vt:lpstr>Process Synchronization Solution</vt:lpstr>
      <vt:lpstr>Overview of today’s lecture</vt:lpstr>
      <vt:lpstr>Critical Region</vt:lpstr>
      <vt:lpstr>Implementation of Critical Region</vt:lpstr>
      <vt:lpstr>Implementation of Critical Region</vt:lpstr>
      <vt:lpstr>Overview of today’s lecture</vt:lpstr>
      <vt:lpstr>Process Synchronization Mechanisms</vt:lpstr>
      <vt:lpstr>Sleep/Wakeup</vt:lpstr>
      <vt:lpstr>Semaphore</vt:lpstr>
      <vt:lpstr>Semaphore</vt:lpstr>
      <vt:lpstr>Process Synchronization in MTX</vt:lpstr>
      <vt:lpstr>Overview of today’s lecture</vt:lpstr>
      <vt:lpstr>Pipes </vt:lpstr>
      <vt:lpstr>Pipe Synchronization </vt:lpstr>
      <vt:lpstr>Implementation of Pipes in MTX</vt:lpstr>
      <vt:lpstr>PowerPoint Presentation</vt:lpstr>
      <vt:lpstr>Implementation of Pipes in MTX</vt:lpstr>
      <vt:lpstr>Implementation of Pipes in MTX</vt:lpstr>
      <vt:lpstr>Implementation of Pipes in MTX</vt:lpstr>
      <vt:lpstr>PowerPoint Presentation</vt:lpstr>
      <vt:lpstr>Implementation of Pipes in MTX</vt:lpstr>
      <vt:lpstr>Overview of today’s lecture</vt:lpstr>
      <vt:lpstr>Message Passing</vt:lpstr>
      <vt:lpstr>Message Passing</vt:lpstr>
      <vt:lpstr>Message Passing</vt:lpstr>
      <vt:lpstr>Server-Client Message Passing</vt:lpstr>
      <vt:lpstr>Server-Client Message Passing</vt:lpstr>
      <vt:lpstr>Next Lecture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4421  Operating Systems II</dc:title>
  <dc:creator>SkyLek</dc:creator>
  <cp:lastModifiedBy>MACS_SCI_230</cp:lastModifiedBy>
  <cp:revision>224</cp:revision>
  <dcterms:created xsi:type="dcterms:W3CDTF">2021-08-19T06:58:23Z</dcterms:created>
  <dcterms:modified xsi:type="dcterms:W3CDTF">2021-12-16T10:40:34Z</dcterms:modified>
</cp:coreProperties>
</file>